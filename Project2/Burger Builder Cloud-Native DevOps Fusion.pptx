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Tomorrow Bold" charset="1" panose="00000000000000000000"/>
      <p:regular r:id="rId25"/>
    </p:embeddedFont>
    <p:embeddedFont>
      <p:font typeface="Tomorrow" charset="1" panose="00000000000000000000"/>
      <p:regular r:id="rId26"/>
    </p:embeddedFont>
    <p:embeddedFont>
      <p:font typeface="Poppins" charset="1" panose="00000500000000000000"/>
      <p:regular r:id="rId27"/>
    </p:embeddedFont>
    <p:embeddedFont>
      <p:font typeface="Poppins Bold" charset="1" panose="00000800000000000000"/>
      <p:regular r:id="rId28"/>
    </p:embeddedFont>
    <p:embeddedFont>
      <p:font typeface="TT Firs Neue Bold" charset="1" panose="02000803030000020004"/>
      <p:regular r:id="rId29"/>
    </p:embeddedFont>
    <p:embeddedFont>
      <p:font typeface="TT Firs Neue" charset="1" panose="02000503030000020004"/>
      <p:regular r:id="rId30"/>
    </p:embeddedFont>
    <p:embeddedFont>
      <p:font typeface="Canva Sans" charset="1" panose="020B0503030501040103"/>
      <p:regular r:id="rId31"/>
    </p:embeddedFont>
    <p:embeddedFont>
      <p:font typeface="Canva Sans Bold" charset="1" panose="020B0803030501040103"/>
      <p:regular r:id="rId32"/>
    </p:embeddedFont>
    <p:embeddedFont>
      <p:font typeface="Montserrat Medium" charset="1" panose="00000600000000000000"/>
      <p:regular r:id="rId33"/>
    </p:embeddedFont>
    <p:embeddedFont>
      <p:font typeface="Montserrat Bold" charset="1" panose="0000080000000000000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8.png" Type="http://schemas.openxmlformats.org/officeDocument/2006/relationships/image"/><Relationship Id="rId6"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5.jpeg" Type="http://schemas.openxmlformats.org/officeDocument/2006/relationships/image"/><Relationship Id="rId6" Target="../media/image2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4.png" Type="http://schemas.openxmlformats.org/officeDocument/2006/relationships/image"/><Relationship Id="rId6" Target="../media/image2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8.png" Type="http://schemas.openxmlformats.org/officeDocument/2006/relationships/image"/><Relationship Id="rId4" Target="../media/image2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1.pn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1.pn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2.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1.pn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3.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34.png" Type="http://schemas.openxmlformats.org/officeDocument/2006/relationships/image"/><Relationship Id="rId4" Target="../media/image38.jpeg" Type="http://schemas.openxmlformats.org/officeDocument/2006/relationships/image"/><Relationship Id="rId5" Target="../media/VAHIqG8pKU8.mp4" Type="http://schemas.openxmlformats.org/officeDocument/2006/relationships/video"/><Relationship Id="rId6" Target="../media/VAHIqG8pKU8.mp4" Type="http://schemas.microsoft.com/office/2007/relationships/media"/></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39.png" Type="http://schemas.openxmlformats.org/officeDocument/2006/relationships/image"/><Relationship Id="rId4" Target="../media/image40.png" Type="http://schemas.openxmlformats.org/officeDocument/2006/relationships/image"/><Relationship Id="rId5" Target="https://burgergroup2.com"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AutoShape 3" id="3"/>
          <p:cNvSpPr/>
          <p:nvPr/>
        </p:nvSpPr>
        <p:spPr>
          <a:xfrm>
            <a:off x="1028700" y="6235742"/>
            <a:ext cx="16230600" cy="0"/>
          </a:xfrm>
          <a:prstGeom prst="line">
            <a:avLst/>
          </a:prstGeom>
          <a:ln cap="flat" w="19050">
            <a:solidFill>
              <a:srgbClr val="FFFFFF"/>
            </a:solidFill>
            <a:prstDash val="solid"/>
            <a:headEnd type="none" len="sm" w="sm"/>
            <a:tailEnd type="none" len="sm" w="sm"/>
          </a:ln>
        </p:spPr>
      </p:sp>
      <p:sp>
        <p:nvSpPr>
          <p:cNvPr name="Freeform 4" id="4"/>
          <p:cNvSpPr/>
          <p:nvPr/>
        </p:nvSpPr>
        <p:spPr>
          <a:xfrm flipH="false" flipV="false" rot="0">
            <a:off x="964614" y="1060098"/>
            <a:ext cx="623500" cy="502697"/>
          </a:xfrm>
          <a:custGeom>
            <a:avLst/>
            <a:gdLst/>
            <a:ahLst/>
            <a:cxnLst/>
            <a:rect r="r" b="b" t="t" l="l"/>
            <a:pathLst>
              <a:path h="502697" w="623500">
                <a:moveTo>
                  <a:pt x="0" y="0"/>
                </a:moveTo>
                <a:lnTo>
                  <a:pt x="623501" y="0"/>
                </a:lnTo>
                <a:lnTo>
                  <a:pt x="623501" y="502697"/>
                </a:lnTo>
                <a:lnTo>
                  <a:pt x="0" y="502697"/>
                </a:lnTo>
                <a:lnTo>
                  <a:pt x="0" y="0"/>
                </a:lnTo>
                <a:close/>
              </a:path>
            </a:pathLst>
          </a:custGeom>
          <a:blipFill>
            <a:blip r:embed="rId3"/>
            <a:stretch>
              <a:fillRect l="0" t="0" r="0" b="0"/>
            </a:stretch>
          </a:blipFill>
        </p:spPr>
      </p:sp>
      <p:sp>
        <p:nvSpPr>
          <p:cNvPr name="Freeform 5" id="5"/>
          <p:cNvSpPr/>
          <p:nvPr/>
        </p:nvSpPr>
        <p:spPr>
          <a:xfrm flipH="false" flipV="false" rot="0">
            <a:off x="14936731" y="7522978"/>
            <a:ext cx="2112983" cy="1629638"/>
          </a:xfrm>
          <a:custGeom>
            <a:avLst/>
            <a:gdLst/>
            <a:ahLst/>
            <a:cxnLst/>
            <a:rect r="r" b="b" t="t" l="l"/>
            <a:pathLst>
              <a:path h="1629638" w="2112983">
                <a:moveTo>
                  <a:pt x="0" y="0"/>
                </a:moveTo>
                <a:lnTo>
                  <a:pt x="2112983" y="0"/>
                </a:lnTo>
                <a:lnTo>
                  <a:pt x="2112983" y="1629638"/>
                </a:lnTo>
                <a:lnTo>
                  <a:pt x="0" y="1629638"/>
                </a:lnTo>
                <a:lnTo>
                  <a:pt x="0" y="0"/>
                </a:lnTo>
                <a:close/>
              </a:path>
            </a:pathLst>
          </a:custGeom>
          <a:blipFill>
            <a:blip r:embed="rId4"/>
            <a:stretch>
              <a:fillRect l="0" t="0" r="0" b="0"/>
            </a:stretch>
          </a:blipFill>
          <a:ln cap="sq">
            <a:noFill/>
            <a:prstDash val="solid"/>
            <a:miter/>
          </a:ln>
        </p:spPr>
      </p:sp>
      <p:sp>
        <p:nvSpPr>
          <p:cNvPr name="Freeform 6" id="6"/>
          <p:cNvSpPr/>
          <p:nvPr/>
        </p:nvSpPr>
        <p:spPr>
          <a:xfrm flipH="false" flipV="false" rot="0">
            <a:off x="1028700" y="2630382"/>
            <a:ext cx="2110075" cy="1154786"/>
          </a:xfrm>
          <a:custGeom>
            <a:avLst/>
            <a:gdLst/>
            <a:ahLst/>
            <a:cxnLst/>
            <a:rect r="r" b="b" t="t" l="l"/>
            <a:pathLst>
              <a:path h="1154786" w="2110075">
                <a:moveTo>
                  <a:pt x="0" y="0"/>
                </a:moveTo>
                <a:lnTo>
                  <a:pt x="2110075" y="0"/>
                </a:lnTo>
                <a:lnTo>
                  <a:pt x="2110075" y="1154786"/>
                </a:lnTo>
                <a:lnTo>
                  <a:pt x="0" y="11547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083737" y="3905995"/>
            <a:ext cx="14477815" cy="1588129"/>
          </a:xfrm>
          <a:prstGeom prst="rect">
            <a:avLst/>
          </a:prstGeom>
        </p:spPr>
        <p:txBody>
          <a:bodyPr anchor="t" rtlCol="false" tIns="0" lIns="0" bIns="0" rIns="0">
            <a:spAutoFit/>
          </a:bodyPr>
          <a:lstStyle/>
          <a:p>
            <a:pPr algn="r" marL="0" indent="0" lvl="0">
              <a:lnSpc>
                <a:spcPts val="12953"/>
              </a:lnSpc>
            </a:pPr>
            <a:r>
              <a:rPr lang="en-US" b="true" sz="9252">
                <a:solidFill>
                  <a:srgbClr val="5271FF"/>
                </a:solidFill>
                <a:latin typeface="Tomorrow Bold"/>
                <a:ea typeface="Tomorrow Bold"/>
                <a:cs typeface="Tomorrow Bold"/>
                <a:sym typeface="Tomorrow Bold"/>
              </a:rPr>
              <a:t>HUDSON HORNET TEAM</a:t>
            </a:r>
          </a:p>
        </p:txBody>
      </p:sp>
      <p:sp>
        <p:nvSpPr>
          <p:cNvPr name="TextBox 8" id="8"/>
          <p:cNvSpPr txBox="true"/>
          <p:nvPr/>
        </p:nvSpPr>
        <p:spPr>
          <a:xfrm rot="0">
            <a:off x="1028700" y="7293017"/>
            <a:ext cx="7228880" cy="275844"/>
          </a:xfrm>
          <a:prstGeom prst="rect">
            <a:avLst/>
          </a:prstGeom>
        </p:spPr>
        <p:txBody>
          <a:bodyPr anchor="t" rtlCol="false" tIns="0" lIns="0" bIns="0" rIns="0">
            <a:spAutoFit/>
          </a:bodyPr>
          <a:lstStyle/>
          <a:p>
            <a:pPr algn="just" marL="0" indent="0" lvl="0">
              <a:lnSpc>
                <a:spcPts val="2193"/>
              </a:lnSpc>
              <a:spcBef>
                <a:spcPct val="0"/>
              </a:spcBef>
            </a:pPr>
            <a:r>
              <a:rPr lang="en-US" sz="1700" spc="-93" strike="noStrike" u="none">
                <a:solidFill>
                  <a:srgbClr val="FFFFFF"/>
                </a:solidFill>
                <a:latin typeface="Tomorrow"/>
                <a:ea typeface="Tomorrow"/>
                <a:cs typeface="Tomorrow"/>
                <a:sym typeface="Tomorrow"/>
              </a:rPr>
              <a:t>Cloud-Native AI-Powered Food Ordering Platform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9975275" y="2203597"/>
            <a:ext cx="7809430" cy="6714837"/>
            <a:chOff x="0" y="0"/>
            <a:chExt cx="1320861" cy="1135725"/>
          </a:xfrm>
        </p:grpSpPr>
        <p:sp>
          <p:nvSpPr>
            <p:cNvPr name="Freeform 4" id="4"/>
            <p:cNvSpPr/>
            <p:nvPr/>
          </p:nvSpPr>
          <p:spPr>
            <a:xfrm flipH="false" flipV="false" rot="0">
              <a:off x="0" y="0"/>
              <a:ext cx="1320861" cy="1135725"/>
            </a:xfrm>
            <a:custGeom>
              <a:avLst/>
              <a:gdLst/>
              <a:ahLst/>
              <a:cxnLst/>
              <a:rect r="r" b="b" t="t" l="l"/>
              <a:pathLst>
                <a:path h="1135725" w="1320861">
                  <a:moveTo>
                    <a:pt x="39654" y="0"/>
                  </a:moveTo>
                  <a:lnTo>
                    <a:pt x="1281207" y="0"/>
                  </a:lnTo>
                  <a:cubicBezTo>
                    <a:pt x="1303107" y="0"/>
                    <a:pt x="1320861" y="17754"/>
                    <a:pt x="1320861" y="39654"/>
                  </a:cubicBezTo>
                  <a:lnTo>
                    <a:pt x="1320861" y="1096071"/>
                  </a:lnTo>
                  <a:cubicBezTo>
                    <a:pt x="1320861" y="1117971"/>
                    <a:pt x="1303107" y="1135725"/>
                    <a:pt x="1281207" y="1135725"/>
                  </a:cubicBezTo>
                  <a:lnTo>
                    <a:pt x="39654" y="1135725"/>
                  </a:lnTo>
                  <a:cubicBezTo>
                    <a:pt x="17754" y="1135725"/>
                    <a:pt x="0" y="1117971"/>
                    <a:pt x="0" y="1096071"/>
                  </a:cubicBezTo>
                  <a:lnTo>
                    <a:pt x="0" y="39654"/>
                  </a:lnTo>
                  <a:cubicBezTo>
                    <a:pt x="0" y="17754"/>
                    <a:pt x="17754" y="0"/>
                    <a:pt x="39654" y="0"/>
                  </a:cubicBezTo>
                  <a:close/>
                </a:path>
              </a:pathLst>
            </a:custGeom>
            <a:blipFill>
              <a:blip r:embed="rId3"/>
              <a:stretch>
                <a:fillRect l="-209" t="0" r="-209" b="0"/>
              </a:stretch>
            </a:blipFill>
            <a:ln w="209550" cap="rnd">
              <a:gradFill>
                <a:gsLst>
                  <a:gs pos="0">
                    <a:srgbClr val="0039E6">
                      <a:alpha val="100000"/>
                    </a:srgbClr>
                  </a:gs>
                  <a:gs pos="100000">
                    <a:srgbClr val="3CFFE2">
                      <a:alpha val="100000"/>
                    </a:srgbClr>
                  </a:gs>
                </a:gsLst>
                <a:path path="circle">
                  <a:fillToRect l="0" r="100000" t="0" b="100000"/>
                </a:path>
                <a:tileRect r="0" l="-100000" b="0" t="-100000"/>
              </a:gradFill>
              <a:prstDash val="solid"/>
              <a:round/>
            </a:ln>
          </p:spPr>
        </p:sp>
      </p:grpSp>
      <p:sp>
        <p:nvSpPr>
          <p:cNvPr name="TextBox 5" id="5"/>
          <p:cNvSpPr txBox="true"/>
          <p:nvPr/>
        </p:nvSpPr>
        <p:spPr>
          <a:xfrm rot="0">
            <a:off x="9144000" y="965066"/>
            <a:ext cx="1662550" cy="400056"/>
          </a:xfrm>
          <a:prstGeom prst="rect">
            <a:avLst/>
          </a:prstGeom>
        </p:spPr>
        <p:txBody>
          <a:bodyPr anchor="t" rtlCol="false" tIns="0" lIns="0" bIns="0" rIns="0">
            <a:spAutoFit/>
          </a:bodyPr>
          <a:lstStyle/>
          <a:p>
            <a:pPr algn="r" marL="0" indent="0" lvl="0">
              <a:lnSpc>
                <a:spcPts val="3149"/>
              </a:lnSpc>
              <a:spcBef>
                <a:spcPct val="0"/>
              </a:spcBef>
            </a:pPr>
            <a:r>
              <a:rPr lang="en-US" sz="2249">
                <a:solidFill>
                  <a:srgbClr val="FFFFFF"/>
                </a:solidFill>
                <a:latin typeface="Poppins"/>
                <a:ea typeface="Poppins"/>
                <a:cs typeface="Poppins"/>
                <a:sym typeface="Poppins"/>
              </a:rPr>
              <a:t>Home</a:t>
            </a:r>
          </a:p>
        </p:txBody>
      </p:sp>
      <p:sp>
        <p:nvSpPr>
          <p:cNvPr name="TextBox 6" id="6"/>
          <p:cNvSpPr txBox="true"/>
          <p:nvPr/>
        </p:nvSpPr>
        <p:spPr>
          <a:xfrm rot="0">
            <a:off x="11408122" y="967280"/>
            <a:ext cx="1907082" cy="400056"/>
          </a:xfrm>
          <a:prstGeom prst="rect">
            <a:avLst/>
          </a:prstGeom>
        </p:spPr>
        <p:txBody>
          <a:bodyPr anchor="t" rtlCol="false" tIns="0" lIns="0" bIns="0" rIns="0">
            <a:spAutoFit/>
          </a:bodyPr>
          <a:lstStyle/>
          <a:p>
            <a:pPr algn="ctr" marL="0" indent="0" lvl="0">
              <a:lnSpc>
                <a:spcPts val="3149"/>
              </a:lnSpc>
              <a:spcBef>
                <a:spcPct val="0"/>
              </a:spcBef>
            </a:pPr>
            <a:r>
              <a:rPr lang="en-US" b="true" sz="2249">
                <a:solidFill>
                  <a:srgbClr val="FFFFFF"/>
                </a:solidFill>
                <a:latin typeface="Poppins Bold"/>
                <a:ea typeface="Poppins Bold"/>
                <a:cs typeface="Poppins Bold"/>
                <a:sym typeface="Poppins Bold"/>
              </a:rPr>
              <a:t>Overview</a:t>
            </a:r>
          </a:p>
        </p:txBody>
      </p:sp>
      <p:sp>
        <p:nvSpPr>
          <p:cNvPr name="TextBox 7" id="7"/>
          <p:cNvSpPr txBox="true"/>
          <p:nvPr/>
        </p:nvSpPr>
        <p:spPr>
          <a:xfrm rot="0">
            <a:off x="13726729" y="943100"/>
            <a:ext cx="1916881" cy="400056"/>
          </a:xfrm>
          <a:prstGeom prst="rect">
            <a:avLst/>
          </a:prstGeom>
        </p:spPr>
        <p:txBody>
          <a:bodyPr anchor="t" rtlCol="false" tIns="0" lIns="0" bIns="0" rIns="0">
            <a:spAutoFit/>
          </a:bodyPr>
          <a:lstStyle/>
          <a:p>
            <a:pPr algn="ctr" marL="0" indent="0" lvl="0">
              <a:lnSpc>
                <a:spcPts val="3149"/>
              </a:lnSpc>
              <a:spcBef>
                <a:spcPct val="0"/>
              </a:spcBef>
            </a:pPr>
            <a:r>
              <a:rPr lang="en-US" sz="2249">
                <a:solidFill>
                  <a:srgbClr val="FFFFFF"/>
                </a:solidFill>
                <a:latin typeface="Poppins"/>
                <a:ea typeface="Poppins"/>
                <a:cs typeface="Poppins"/>
                <a:sym typeface="Poppins"/>
              </a:rPr>
              <a:t>Features</a:t>
            </a:r>
          </a:p>
        </p:txBody>
      </p:sp>
      <p:sp>
        <p:nvSpPr>
          <p:cNvPr name="TextBox 8" id="8"/>
          <p:cNvSpPr txBox="true"/>
          <p:nvPr/>
        </p:nvSpPr>
        <p:spPr>
          <a:xfrm rot="0">
            <a:off x="15034325" y="965066"/>
            <a:ext cx="2224975" cy="400056"/>
          </a:xfrm>
          <a:prstGeom prst="rect">
            <a:avLst/>
          </a:prstGeom>
        </p:spPr>
        <p:txBody>
          <a:bodyPr anchor="t" rtlCol="false" tIns="0" lIns="0" bIns="0" rIns="0">
            <a:spAutoFit/>
          </a:bodyPr>
          <a:lstStyle/>
          <a:p>
            <a:pPr algn="r" marL="0" indent="0" lvl="0">
              <a:lnSpc>
                <a:spcPts val="3149"/>
              </a:lnSpc>
              <a:spcBef>
                <a:spcPct val="0"/>
              </a:spcBef>
            </a:pPr>
            <a:r>
              <a:rPr lang="en-US" sz="2249">
                <a:solidFill>
                  <a:srgbClr val="FFFFFF"/>
                </a:solidFill>
                <a:latin typeface="Poppins"/>
                <a:ea typeface="Poppins"/>
                <a:cs typeface="Poppins"/>
                <a:sym typeface="Poppins"/>
              </a:rPr>
              <a:t>DevOps</a:t>
            </a:r>
          </a:p>
        </p:txBody>
      </p:sp>
      <p:grpSp>
        <p:nvGrpSpPr>
          <p:cNvPr name="Group 9" id="9"/>
          <p:cNvGrpSpPr/>
          <p:nvPr/>
        </p:nvGrpSpPr>
        <p:grpSpPr>
          <a:xfrm rot="0">
            <a:off x="-2282547" y="2784027"/>
            <a:ext cx="11810211" cy="6033383"/>
            <a:chOff x="0" y="0"/>
            <a:chExt cx="3110508" cy="1589039"/>
          </a:xfrm>
        </p:grpSpPr>
        <p:sp>
          <p:nvSpPr>
            <p:cNvPr name="Freeform 10" id="10"/>
            <p:cNvSpPr/>
            <p:nvPr/>
          </p:nvSpPr>
          <p:spPr>
            <a:xfrm flipH="false" flipV="false" rot="0">
              <a:off x="0" y="0"/>
              <a:ext cx="3110508" cy="1589039"/>
            </a:xfrm>
            <a:custGeom>
              <a:avLst/>
              <a:gdLst/>
              <a:ahLst/>
              <a:cxnLst/>
              <a:rect r="r" b="b" t="t" l="l"/>
              <a:pathLst>
                <a:path h="1589039" w="3110508">
                  <a:moveTo>
                    <a:pt x="49820" y="0"/>
                  </a:moveTo>
                  <a:lnTo>
                    <a:pt x="3060688" y="0"/>
                  </a:lnTo>
                  <a:cubicBezTo>
                    <a:pt x="3088203" y="0"/>
                    <a:pt x="3110508" y="22305"/>
                    <a:pt x="3110508" y="49820"/>
                  </a:cubicBezTo>
                  <a:lnTo>
                    <a:pt x="3110508" y="1539219"/>
                  </a:lnTo>
                  <a:cubicBezTo>
                    <a:pt x="3110508" y="1566734"/>
                    <a:pt x="3088203" y="1589039"/>
                    <a:pt x="3060688" y="1589039"/>
                  </a:cubicBezTo>
                  <a:lnTo>
                    <a:pt x="49820" y="1589039"/>
                  </a:lnTo>
                  <a:cubicBezTo>
                    <a:pt x="22305" y="1589039"/>
                    <a:pt x="0" y="1566734"/>
                    <a:pt x="0" y="1539219"/>
                  </a:cubicBezTo>
                  <a:lnTo>
                    <a:pt x="0" y="49820"/>
                  </a:lnTo>
                  <a:cubicBezTo>
                    <a:pt x="0" y="22305"/>
                    <a:pt x="22305" y="0"/>
                    <a:pt x="49820" y="0"/>
                  </a:cubicBezTo>
                  <a:close/>
                </a:path>
              </a:pathLst>
            </a:custGeom>
            <a:gradFill rotWithShape="true">
              <a:gsLst>
                <a:gs pos="0">
                  <a:srgbClr val="000000">
                    <a:alpha val="100000"/>
                  </a:srgbClr>
                </a:gs>
                <a:gs pos="33333">
                  <a:srgbClr val="50004A">
                    <a:alpha val="100000"/>
                  </a:srgbClr>
                </a:gs>
                <a:gs pos="66667">
                  <a:srgbClr val="31B4CB">
                    <a:alpha val="100000"/>
                  </a:srgbClr>
                </a:gs>
                <a:gs pos="100000">
                  <a:srgbClr val="0F0059">
                    <a:alpha val="100000"/>
                  </a:srgbClr>
                </a:gs>
              </a:gsLst>
              <a:path path="circle">
                <a:fillToRect l="0" r="100000" t="0" b="100000"/>
              </a:path>
              <a:tileRect r="0" l="-100000" b="0" t="-100000"/>
            </a:gradFill>
            <a:ln cap="rnd">
              <a:noFill/>
              <a:prstDash val="solid"/>
              <a:round/>
            </a:ln>
          </p:spPr>
        </p:sp>
        <p:sp>
          <p:nvSpPr>
            <p:cNvPr name="TextBox 11" id="11"/>
            <p:cNvSpPr txBox="true"/>
            <p:nvPr/>
          </p:nvSpPr>
          <p:spPr>
            <a:xfrm>
              <a:off x="0" y="9525"/>
              <a:ext cx="3110508" cy="1579514"/>
            </a:xfrm>
            <a:prstGeom prst="rect">
              <a:avLst/>
            </a:prstGeom>
          </p:spPr>
          <p:txBody>
            <a:bodyPr anchor="ctr" rtlCol="false" tIns="50800" lIns="50800" bIns="50800" rIns="50800"/>
            <a:lstStyle/>
            <a:p>
              <a:pPr algn="ctr" marL="0" indent="0" lvl="0">
                <a:lnSpc>
                  <a:spcPts val="1714"/>
                </a:lnSpc>
                <a:spcBef>
                  <a:spcPct val="0"/>
                </a:spcBef>
              </a:pPr>
            </a:p>
          </p:txBody>
        </p:sp>
      </p:grpSp>
      <p:sp>
        <p:nvSpPr>
          <p:cNvPr name="TextBox 12" id="12"/>
          <p:cNvSpPr txBox="true"/>
          <p:nvPr/>
        </p:nvSpPr>
        <p:spPr>
          <a:xfrm rot="0">
            <a:off x="635963" y="1556493"/>
            <a:ext cx="4486180" cy="1227535"/>
          </a:xfrm>
          <a:prstGeom prst="rect">
            <a:avLst/>
          </a:prstGeom>
        </p:spPr>
        <p:txBody>
          <a:bodyPr anchor="t" rtlCol="false" tIns="0" lIns="0" bIns="0" rIns="0">
            <a:spAutoFit/>
          </a:bodyPr>
          <a:lstStyle/>
          <a:p>
            <a:pPr algn="l" marL="0" indent="0" lvl="0">
              <a:lnSpc>
                <a:spcPts val="9150"/>
              </a:lnSpc>
            </a:pPr>
            <a:r>
              <a:rPr lang="en-US" b="true" sz="7625">
                <a:solidFill>
                  <a:srgbClr val="FFFFFF"/>
                </a:solidFill>
                <a:latin typeface="Poppins Bold"/>
                <a:ea typeface="Poppins Bold"/>
                <a:cs typeface="Poppins Bold"/>
                <a:sym typeface="Poppins Bold"/>
              </a:rPr>
              <a:t>PROJECT</a:t>
            </a:r>
          </a:p>
        </p:txBody>
      </p:sp>
      <p:sp>
        <p:nvSpPr>
          <p:cNvPr name="TextBox 13" id="13"/>
          <p:cNvSpPr txBox="true"/>
          <p:nvPr/>
        </p:nvSpPr>
        <p:spPr>
          <a:xfrm rot="0">
            <a:off x="497868" y="2717352"/>
            <a:ext cx="9248551" cy="1227535"/>
          </a:xfrm>
          <a:prstGeom prst="rect">
            <a:avLst/>
          </a:prstGeom>
        </p:spPr>
        <p:txBody>
          <a:bodyPr anchor="t" rtlCol="false" tIns="0" lIns="0" bIns="0" rIns="0">
            <a:spAutoFit/>
          </a:bodyPr>
          <a:lstStyle/>
          <a:p>
            <a:pPr algn="l" marL="0" indent="0" lvl="0">
              <a:lnSpc>
                <a:spcPts val="9150"/>
              </a:lnSpc>
            </a:pPr>
            <a:r>
              <a:rPr lang="en-US" b="true" sz="7625">
                <a:solidFill>
                  <a:srgbClr val="65FFE8"/>
                </a:solidFill>
                <a:latin typeface="Poppins Bold"/>
                <a:ea typeface="Poppins Bold"/>
                <a:cs typeface="Poppins Bold"/>
                <a:sym typeface="Poppins Bold"/>
              </a:rPr>
              <a:t>OVERVIEW</a:t>
            </a:r>
          </a:p>
        </p:txBody>
      </p:sp>
      <p:sp>
        <p:nvSpPr>
          <p:cNvPr name="TextBox 14" id="14"/>
          <p:cNvSpPr txBox="true"/>
          <p:nvPr/>
        </p:nvSpPr>
        <p:spPr>
          <a:xfrm rot="0">
            <a:off x="1557999" y="5734044"/>
            <a:ext cx="7486920" cy="400056"/>
          </a:xfrm>
          <a:prstGeom prst="rect">
            <a:avLst/>
          </a:prstGeom>
        </p:spPr>
        <p:txBody>
          <a:bodyPr anchor="t" rtlCol="false" tIns="0" lIns="0" bIns="0" rIns="0">
            <a:spAutoFit/>
          </a:bodyPr>
          <a:lstStyle/>
          <a:p>
            <a:pPr algn="just" marL="0" indent="0" lvl="0">
              <a:lnSpc>
                <a:spcPts val="3149"/>
              </a:lnSpc>
              <a:spcBef>
                <a:spcPct val="0"/>
              </a:spcBef>
            </a:pPr>
          </a:p>
        </p:txBody>
      </p:sp>
      <p:sp>
        <p:nvSpPr>
          <p:cNvPr name="TextBox 15" id="15"/>
          <p:cNvSpPr txBox="true"/>
          <p:nvPr/>
        </p:nvSpPr>
        <p:spPr>
          <a:xfrm rot="0">
            <a:off x="635963" y="4424168"/>
            <a:ext cx="7311773" cy="2582179"/>
          </a:xfrm>
          <a:prstGeom prst="rect">
            <a:avLst/>
          </a:prstGeom>
        </p:spPr>
        <p:txBody>
          <a:bodyPr anchor="t" rtlCol="false" tIns="0" lIns="0" bIns="0" rIns="0">
            <a:spAutoFit/>
          </a:bodyPr>
          <a:lstStyle/>
          <a:p>
            <a:pPr algn="l">
              <a:lnSpc>
                <a:spcPts val="3452"/>
              </a:lnSpc>
              <a:spcBef>
                <a:spcPct val="0"/>
              </a:spcBef>
            </a:pPr>
            <a:r>
              <a:rPr lang="en-US" sz="2466">
                <a:solidFill>
                  <a:srgbClr val="FFFFFF"/>
                </a:solidFill>
                <a:latin typeface="Poppins"/>
                <a:ea typeface="Poppins"/>
                <a:cs typeface="Poppins"/>
                <a:sym typeface="Poppins"/>
              </a:rPr>
              <a:t>Burger Builder is a cloud-based web app where users can build and order their perfect custom burger. It features a React frontend, and a Java backend — all running on Azure with automated deployment pipelines and built-in security monitoring.</a:t>
            </a:r>
          </a:p>
        </p:txBody>
      </p:sp>
      <p:sp>
        <p:nvSpPr>
          <p:cNvPr name="Freeform 16" id="16"/>
          <p:cNvSpPr/>
          <p:nvPr/>
        </p:nvSpPr>
        <p:spPr>
          <a:xfrm flipH="false" flipV="false" rot="0">
            <a:off x="635963" y="804698"/>
            <a:ext cx="501364" cy="434210"/>
          </a:xfrm>
          <a:custGeom>
            <a:avLst/>
            <a:gdLst/>
            <a:ahLst/>
            <a:cxnLst/>
            <a:rect r="r" b="b" t="t" l="l"/>
            <a:pathLst>
              <a:path h="434210" w="501364">
                <a:moveTo>
                  <a:pt x="0" y="0"/>
                </a:moveTo>
                <a:lnTo>
                  <a:pt x="501365" y="0"/>
                </a:lnTo>
                <a:lnTo>
                  <a:pt x="501365" y="434210"/>
                </a:lnTo>
                <a:lnTo>
                  <a:pt x="0" y="434210"/>
                </a:lnTo>
                <a:lnTo>
                  <a:pt x="0" y="0"/>
                </a:lnTo>
                <a:close/>
              </a:path>
            </a:pathLst>
          </a:custGeom>
          <a:blipFill>
            <a:blip r:embed="rId4"/>
            <a:stretch>
              <a:fillRect l="0" t="0" r="0" b="0"/>
            </a:stretch>
          </a:blipFill>
        </p:spPr>
      </p:sp>
      <p:sp>
        <p:nvSpPr>
          <p:cNvPr name="TextBox 17" id="17"/>
          <p:cNvSpPr txBox="true"/>
          <p:nvPr/>
        </p:nvSpPr>
        <p:spPr>
          <a:xfrm rot="0">
            <a:off x="1247726" y="821173"/>
            <a:ext cx="1500353" cy="431529"/>
          </a:xfrm>
          <a:prstGeom prst="rect">
            <a:avLst/>
          </a:prstGeom>
        </p:spPr>
        <p:txBody>
          <a:bodyPr anchor="t" rtlCol="false" tIns="0" lIns="0" bIns="0" rIns="0">
            <a:spAutoFit/>
          </a:bodyPr>
          <a:lstStyle/>
          <a:p>
            <a:pPr algn="l" marL="0" indent="0" lvl="0">
              <a:lnSpc>
                <a:spcPts val="1712"/>
              </a:lnSpc>
            </a:pPr>
            <a:r>
              <a:rPr lang="en-US" b="true" sz="1571">
                <a:solidFill>
                  <a:srgbClr val="FFFFFF"/>
                </a:solidFill>
                <a:latin typeface="Tomorrow Bold"/>
                <a:ea typeface="Tomorrow Bold"/>
                <a:cs typeface="Tomorrow Bold"/>
                <a:sym typeface="Tomorrow Bold"/>
              </a:rPr>
              <a:t>BURGER BUILDER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256894" y="8250330"/>
            <a:ext cx="6987516" cy="4114800"/>
          </a:xfrm>
          <a:custGeom>
            <a:avLst/>
            <a:gdLst/>
            <a:ahLst/>
            <a:cxnLst/>
            <a:rect r="r" b="b" t="t" l="l"/>
            <a:pathLst>
              <a:path h="4114800" w="6987516">
                <a:moveTo>
                  <a:pt x="0" y="0"/>
                </a:moveTo>
                <a:lnTo>
                  <a:pt x="6987516" y="0"/>
                </a:lnTo>
                <a:lnTo>
                  <a:pt x="6987516"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7894" y="-1873253"/>
            <a:ext cx="6987516" cy="4114800"/>
          </a:xfrm>
          <a:custGeom>
            <a:avLst/>
            <a:gdLst/>
            <a:ahLst/>
            <a:cxnLst/>
            <a:rect r="r" b="b" t="t" l="l"/>
            <a:pathLst>
              <a:path h="4114800" w="6987516">
                <a:moveTo>
                  <a:pt x="0" y="0"/>
                </a:moveTo>
                <a:lnTo>
                  <a:pt x="6987516" y="0"/>
                </a:lnTo>
                <a:lnTo>
                  <a:pt x="6987516"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1334227" y="0"/>
            <a:ext cx="6953773" cy="10307730"/>
          </a:xfrm>
          <a:custGeom>
            <a:avLst/>
            <a:gdLst/>
            <a:ahLst/>
            <a:cxnLst/>
            <a:rect r="r" b="b" t="t" l="l"/>
            <a:pathLst>
              <a:path h="10307730" w="6953773">
                <a:moveTo>
                  <a:pt x="0" y="0"/>
                </a:moveTo>
                <a:lnTo>
                  <a:pt x="6953773" y="0"/>
                </a:lnTo>
                <a:lnTo>
                  <a:pt x="6953773" y="10307730"/>
                </a:lnTo>
                <a:lnTo>
                  <a:pt x="0" y="10307730"/>
                </a:lnTo>
                <a:lnTo>
                  <a:pt x="0" y="0"/>
                </a:lnTo>
                <a:close/>
              </a:path>
            </a:pathLst>
          </a:custGeom>
          <a:blipFill>
            <a:blip r:embed="rId5"/>
            <a:stretch>
              <a:fillRect l="0" t="-7055" r="-1066" b="-7055"/>
            </a:stretch>
          </a:blipFill>
        </p:spPr>
      </p:sp>
      <p:sp>
        <p:nvSpPr>
          <p:cNvPr name="TextBox 6" id="6"/>
          <p:cNvSpPr txBox="true"/>
          <p:nvPr/>
        </p:nvSpPr>
        <p:spPr>
          <a:xfrm rot="0">
            <a:off x="777548" y="1127852"/>
            <a:ext cx="9906149" cy="1415220"/>
          </a:xfrm>
          <a:prstGeom prst="rect">
            <a:avLst/>
          </a:prstGeom>
        </p:spPr>
        <p:txBody>
          <a:bodyPr anchor="t" rtlCol="false" tIns="0" lIns="0" bIns="0" rIns="0">
            <a:spAutoFit/>
          </a:bodyPr>
          <a:lstStyle/>
          <a:p>
            <a:pPr algn="ctr" marL="0" indent="0" lvl="0">
              <a:lnSpc>
                <a:spcPts val="5528"/>
              </a:lnSpc>
            </a:pPr>
            <a:r>
              <a:rPr lang="en-US" sz="3948">
                <a:solidFill>
                  <a:srgbClr val="FFFFFF"/>
                </a:solidFill>
                <a:latin typeface="Poppins"/>
                <a:ea typeface="Poppins"/>
                <a:cs typeface="Poppins"/>
                <a:sym typeface="Poppins"/>
              </a:rPr>
              <a:t>Infrastructure Automation with Terraform</a:t>
            </a:r>
          </a:p>
        </p:txBody>
      </p:sp>
      <p:sp>
        <p:nvSpPr>
          <p:cNvPr name="TextBox 7" id="7"/>
          <p:cNvSpPr txBox="true"/>
          <p:nvPr/>
        </p:nvSpPr>
        <p:spPr>
          <a:xfrm rot="0">
            <a:off x="1341702" y="3601235"/>
            <a:ext cx="8343463" cy="3524256"/>
          </a:xfrm>
          <a:prstGeom prst="rect">
            <a:avLst/>
          </a:prstGeom>
        </p:spPr>
        <p:txBody>
          <a:bodyPr anchor="t" rtlCol="false" tIns="0" lIns="0" bIns="0" rIns="0">
            <a:spAutoFit/>
          </a:bodyPr>
          <a:lstStyle/>
          <a:p>
            <a:pPr algn="ctr">
              <a:lnSpc>
                <a:spcPts val="3149"/>
              </a:lnSpc>
              <a:spcBef>
                <a:spcPct val="0"/>
              </a:spcBef>
            </a:pPr>
          </a:p>
          <a:p>
            <a:pPr algn="ctr">
              <a:lnSpc>
                <a:spcPts val="3149"/>
              </a:lnSpc>
              <a:spcBef>
                <a:spcPct val="0"/>
              </a:spcBef>
            </a:pPr>
            <a:r>
              <a:rPr lang="en-US" sz="2249">
                <a:solidFill>
                  <a:srgbClr val="FFFFFF"/>
                </a:solidFill>
                <a:latin typeface="Poppins"/>
                <a:ea typeface="Poppins"/>
                <a:cs typeface="Poppins"/>
                <a:sym typeface="Poppins"/>
              </a:rPr>
              <a:t>We built the entire cloud infrastructure using Terraform — the industry-standard Infrastructure as Code tool. Instead of manually creating resources in the Azure portal, everything is defined as code.</a:t>
            </a:r>
          </a:p>
          <a:p>
            <a:pPr algn="ctr">
              <a:lnSpc>
                <a:spcPts val="3149"/>
              </a:lnSpc>
              <a:spcBef>
                <a:spcPct val="0"/>
              </a:spcBef>
            </a:pPr>
            <a:r>
              <a:rPr lang="en-US" sz="2249">
                <a:solidFill>
                  <a:srgbClr val="FFFFFF"/>
                </a:solidFill>
                <a:latin typeface="Poppins"/>
                <a:ea typeface="Poppins"/>
                <a:cs typeface="Poppins"/>
                <a:sym typeface="Poppins"/>
              </a:rPr>
              <a:t>To make the project clean, scalable, and easy to maintain, I organized the Terraform code into modular structure. Inside the terraform/modules folder you can see separate modules for each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5754032" y="-4464450"/>
            <a:ext cx="8928900" cy="8928900"/>
          </a:xfrm>
          <a:custGeom>
            <a:avLst/>
            <a:gdLst/>
            <a:ahLst/>
            <a:cxnLst/>
            <a:rect r="r" b="b" t="t" l="l"/>
            <a:pathLst>
              <a:path h="8928900" w="8928900">
                <a:moveTo>
                  <a:pt x="0" y="0"/>
                </a:moveTo>
                <a:lnTo>
                  <a:pt x="8928900" y="0"/>
                </a:lnTo>
                <a:lnTo>
                  <a:pt x="8928900" y="8928900"/>
                </a:lnTo>
                <a:lnTo>
                  <a:pt x="0" y="89289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4425" y="-692326"/>
            <a:ext cx="4784651" cy="4114800"/>
          </a:xfrm>
          <a:custGeom>
            <a:avLst/>
            <a:gdLst/>
            <a:ahLst/>
            <a:cxnLst/>
            <a:rect r="r" b="b" t="t" l="l"/>
            <a:pathLst>
              <a:path h="4114800" w="4784651">
                <a:moveTo>
                  <a:pt x="0" y="0"/>
                </a:moveTo>
                <a:lnTo>
                  <a:pt x="4784651" y="0"/>
                </a:lnTo>
                <a:lnTo>
                  <a:pt x="4784651"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true" rot="0">
            <a:off x="14243625" y="7048338"/>
            <a:ext cx="4784651" cy="4114800"/>
          </a:xfrm>
          <a:custGeom>
            <a:avLst/>
            <a:gdLst/>
            <a:ahLst/>
            <a:cxnLst/>
            <a:rect r="r" b="b" t="t" l="l"/>
            <a:pathLst>
              <a:path h="4114800" w="4784651">
                <a:moveTo>
                  <a:pt x="4784651" y="4114800"/>
                </a:moveTo>
                <a:lnTo>
                  <a:pt x="0" y="4114800"/>
                </a:lnTo>
                <a:lnTo>
                  <a:pt x="0" y="0"/>
                </a:lnTo>
                <a:lnTo>
                  <a:pt x="4784651" y="0"/>
                </a:lnTo>
                <a:lnTo>
                  <a:pt x="4784651"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4178674" y="6362490"/>
            <a:ext cx="8928900" cy="8928900"/>
          </a:xfrm>
          <a:custGeom>
            <a:avLst/>
            <a:gdLst/>
            <a:ahLst/>
            <a:cxnLst/>
            <a:rect r="r" b="b" t="t" l="l"/>
            <a:pathLst>
              <a:path h="8928900" w="8928900">
                <a:moveTo>
                  <a:pt x="0" y="0"/>
                </a:moveTo>
                <a:lnTo>
                  <a:pt x="8928900" y="0"/>
                </a:lnTo>
                <a:lnTo>
                  <a:pt x="8928900" y="8928900"/>
                </a:lnTo>
                <a:lnTo>
                  <a:pt x="0" y="89289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569211" y="2349852"/>
            <a:ext cx="7718789" cy="6360414"/>
          </a:xfrm>
          <a:custGeom>
            <a:avLst/>
            <a:gdLst/>
            <a:ahLst/>
            <a:cxnLst/>
            <a:rect r="r" b="b" t="t" l="l"/>
            <a:pathLst>
              <a:path h="6360414" w="7718789">
                <a:moveTo>
                  <a:pt x="0" y="0"/>
                </a:moveTo>
                <a:lnTo>
                  <a:pt x="7718789" y="0"/>
                </a:lnTo>
                <a:lnTo>
                  <a:pt x="7718789" y="6360415"/>
                </a:lnTo>
                <a:lnTo>
                  <a:pt x="0" y="6360415"/>
                </a:lnTo>
                <a:lnTo>
                  <a:pt x="0" y="0"/>
                </a:lnTo>
                <a:close/>
              </a:path>
            </a:pathLst>
          </a:custGeom>
          <a:blipFill>
            <a:blip r:embed="rId7"/>
            <a:stretch>
              <a:fillRect l="-2821" t="0" r="-2821" b="0"/>
            </a:stretch>
          </a:blipFill>
        </p:spPr>
      </p:sp>
      <p:sp>
        <p:nvSpPr>
          <p:cNvPr name="TextBox 8" id="8"/>
          <p:cNvSpPr txBox="true"/>
          <p:nvPr/>
        </p:nvSpPr>
        <p:spPr>
          <a:xfrm rot="0">
            <a:off x="858362" y="2761741"/>
            <a:ext cx="6148795" cy="660733"/>
          </a:xfrm>
          <a:prstGeom prst="rect">
            <a:avLst/>
          </a:prstGeom>
        </p:spPr>
        <p:txBody>
          <a:bodyPr anchor="t" rtlCol="false" tIns="0" lIns="0" bIns="0" rIns="0">
            <a:spAutoFit/>
          </a:bodyPr>
          <a:lstStyle/>
          <a:p>
            <a:pPr algn="l" marL="0" indent="0" lvl="0">
              <a:lnSpc>
                <a:spcPts val="5467"/>
              </a:lnSpc>
            </a:pPr>
            <a:r>
              <a:rPr lang="en-US" b="true" sz="3905">
                <a:solidFill>
                  <a:srgbClr val="FFFFFF"/>
                </a:solidFill>
                <a:latin typeface="TT Firs Neue Bold"/>
                <a:ea typeface="TT Firs Neue Bold"/>
                <a:cs typeface="TT Firs Neue Bold"/>
                <a:sym typeface="TT Firs Neue Bold"/>
              </a:rPr>
              <a:t>SONARQUBE</a:t>
            </a:r>
          </a:p>
        </p:txBody>
      </p:sp>
      <p:sp>
        <p:nvSpPr>
          <p:cNvPr name="TextBox 9" id="9"/>
          <p:cNvSpPr txBox="true"/>
          <p:nvPr/>
        </p:nvSpPr>
        <p:spPr>
          <a:xfrm rot="0">
            <a:off x="1612676" y="3530649"/>
            <a:ext cx="7761558" cy="728464"/>
          </a:xfrm>
          <a:prstGeom prst="rect">
            <a:avLst/>
          </a:prstGeom>
        </p:spPr>
        <p:txBody>
          <a:bodyPr anchor="t" rtlCol="false" tIns="0" lIns="0" bIns="0" rIns="0">
            <a:spAutoFit/>
          </a:bodyPr>
          <a:lstStyle/>
          <a:p>
            <a:pPr algn="l" marL="0" indent="0" lvl="0">
              <a:lnSpc>
                <a:spcPts val="6048"/>
              </a:lnSpc>
            </a:pPr>
            <a:r>
              <a:rPr lang="en-US" sz="4320" spc="436">
                <a:solidFill>
                  <a:srgbClr val="FFFFFF"/>
                </a:solidFill>
                <a:latin typeface="TT Firs Neue"/>
                <a:ea typeface="TT Firs Neue"/>
                <a:cs typeface="TT Firs Neue"/>
                <a:sym typeface="TT Firs Neue"/>
              </a:rPr>
              <a:t>&amp; ANSIBLE AUTOMATION</a:t>
            </a:r>
          </a:p>
        </p:txBody>
      </p:sp>
      <p:sp>
        <p:nvSpPr>
          <p:cNvPr name="TextBox 10" id="10"/>
          <p:cNvSpPr txBox="true"/>
          <p:nvPr/>
        </p:nvSpPr>
        <p:spPr>
          <a:xfrm rot="0">
            <a:off x="858362" y="5623739"/>
            <a:ext cx="9493184" cy="2140187"/>
          </a:xfrm>
          <a:prstGeom prst="rect">
            <a:avLst/>
          </a:prstGeom>
        </p:spPr>
        <p:txBody>
          <a:bodyPr anchor="t" rtlCol="false" tIns="0" lIns="0" bIns="0" rIns="0">
            <a:spAutoFit/>
          </a:bodyPr>
          <a:lstStyle/>
          <a:p>
            <a:pPr algn="ctr">
              <a:lnSpc>
                <a:spcPts val="3429"/>
              </a:lnSpc>
              <a:spcBef>
                <a:spcPct val="0"/>
              </a:spcBef>
            </a:pPr>
            <a:r>
              <a:rPr lang="en-US" sz="2449">
                <a:solidFill>
                  <a:srgbClr val="FFFFFF"/>
                </a:solidFill>
                <a:latin typeface="Poppins"/>
                <a:ea typeface="Poppins"/>
                <a:cs typeface="Poppins"/>
                <a:sym typeface="Poppins"/>
              </a:rPr>
              <a:t>Using Ansible, we automatically deploy and configure SonarQube — our code quality analysis tool — on the virtual machine. This includes installing Docker, pulling the latest SonarQube image, configuring the environment, and starting the service through a Docker Compose template.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256894" y="8250330"/>
            <a:ext cx="6987516" cy="4114800"/>
          </a:xfrm>
          <a:custGeom>
            <a:avLst/>
            <a:gdLst/>
            <a:ahLst/>
            <a:cxnLst/>
            <a:rect r="r" b="b" t="t" l="l"/>
            <a:pathLst>
              <a:path h="4114800" w="6987516">
                <a:moveTo>
                  <a:pt x="0" y="0"/>
                </a:moveTo>
                <a:lnTo>
                  <a:pt x="6987516" y="0"/>
                </a:lnTo>
                <a:lnTo>
                  <a:pt x="6987516"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557378" y="-2078130"/>
            <a:ext cx="6987516" cy="4114800"/>
          </a:xfrm>
          <a:custGeom>
            <a:avLst/>
            <a:gdLst/>
            <a:ahLst/>
            <a:cxnLst/>
            <a:rect r="r" b="b" t="t" l="l"/>
            <a:pathLst>
              <a:path h="4114800" w="6987516">
                <a:moveTo>
                  <a:pt x="0" y="0"/>
                </a:moveTo>
                <a:lnTo>
                  <a:pt x="6987516" y="0"/>
                </a:lnTo>
                <a:lnTo>
                  <a:pt x="6987516"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27336" y="431052"/>
            <a:ext cx="501364" cy="434210"/>
          </a:xfrm>
          <a:custGeom>
            <a:avLst/>
            <a:gdLst/>
            <a:ahLst/>
            <a:cxnLst/>
            <a:rect r="r" b="b" t="t" l="l"/>
            <a:pathLst>
              <a:path h="434210" w="501364">
                <a:moveTo>
                  <a:pt x="0" y="0"/>
                </a:moveTo>
                <a:lnTo>
                  <a:pt x="501364" y="0"/>
                </a:lnTo>
                <a:lnTo>
                  <a:pt x="501364" y="434211"/>
                </a:lnTo>
                <a:lnTo>
                  <a:pt x="0" y="434211"/>
                </a:lnTo>
                <a:lnTo>
                  <a:pt x="0" y="0"/>
                </a:lnTo>
                <a:close/>
              </a:path>
            </a:pathLst>
          </a:custGeom>
          <a:blipFill>
            <a:blip r:embed="rId5"/>
            <a:stretch>
              <a:fillRect l="0" t="0" r="0" b="0"/>
            </a:stretch>
          </a:blipFill>
        </p:spPr>
      </p:sp>
      <p:sp>
        <p:nvSpPr>
          <p:cNvPr name="Freeform 6" id="6"/>
          <p:cNvSpPr/>
          <p:nvPr/>
        </p:nvSpPr>
        <p:spPr>
          <a:xfrm flipH="false" flipV="false" rot="0">
            <a:off x="1734432" y="2284381"/>
            <a:ext cx="14819135" cy="3223162"/>
          </a:xfrm>
          <a:custGeom>
            <a:avLst/>
            <a:gdLst/>
            <a:ahLst/>
            <a:cxnLst/>
            <a:rect r="r" b="b" t="t" l="l"/>
            <a:pathLst>
              <a:path h="3223162" w="14819135">
                <a:moveTo>
                  <a:pt x="0" y="0"/>
                </a:moveTo>
                <a:lnTo>
                  <a:pt x="14819136" y="0"/>
                </a:lnTo>
                <a:lnTo>
                  <a:pt x="14819136" y="3223162"/>
                </a:lnTo>
                <a:lnTo>
                  <a:pt x="0" y="3223162"/>
                </a:lnTo>
                <a:lnTo>
                  <a:pt x="0" y="0"/>
                </a:lnTo>
                <a:close/>
              </a:path>
            </a:pathLst>
          </a:custGeom>
          <a:blipFill>
            <a:blip r:embed="rId6"/>
            <a:stretch>
              <a:fillRect l="0" t="0" r="0" b="0"/>
            </a:stretch>
          </a:blipFill>
        </p:spPr>
      </p:sp>
      <p:sp>
        <p:nvSpPr>
          <p:cNvPr name="TextBox 7" id="7"/>
          <p:cNvSpPr txBox="true"/>
          <p:nvPr/>
        </p:nvSpPr>
        <p:spPr>
          <a:xfrm rot="0">
            <a:off x="1277341" y="440577"/>
            <a:ext cx="1500353" cy="431529"/>
          </a:xfrm>
          <a:prstGeom prst="rect">
            <a:avLst/>
          </a:prstGeom>
        </p:spPr>
        <p:txBody>
          <a:bodyPr anchor="t" rtlCol="false" tIns="0" lIns="0" bIns="0" rIns="0">
            <a:spAutoFit/>
          </a:bodyPr>
          <a:lstStyle/>
          <a:p>
            <a:pPr algn="l" marL="0" indent="0" lvl="0">
              <a:lnSpc>
                <a:spcPts val="1712"/>
              </a:lnSpc>
            </a:pPr>
            <a:r>
              <a:rPr lang="en-US" b="true" sz="1571">
                <a:solidFill>
                  <a:srgbClr val="FFFFFF"/>
                </a:solidFill>
                <a:latin typeface="Tomorrow Bold"/>
                <a:ea typeface="Tomorrow Bold"/>
                <a:cs typeface="Tomorrow Bold"/>
                <a:sym typeface="Tomorrow Bold"/>
              </a:rPr>
              <a:t>BURGER BUILDER</a:t>
            </a:r>
          </a:p>
        </p:txBody>
      </p:sp>
      <p:sp>
        <p:nvSpPr>
          <p:cNvPr name="TextBox 8" id="8"/>
          <p:cNvSpPr txBox="true"/>
          <p:nvPr/>
        </p:nvSpPr>
        <p:spPr>
          <a:xfrm rot="0">
            <a:off x="5730622" y="6507668"/>
            <a:ext cx="5512780" cy="693669"/>
          </a:xfrm>
          <a:prstGeom prst="rect">
            <a:avLst/>
          </a:prstGeom>
        </p:spPr>
        <p:txBody>
          <a:bodyPr anchor="t" rtlCol="false" tIns="0" lIns="0" bIns="0" rIns="0">
            <a:spAutoFit/>
          </a:bodyPr>
          <a:lstStyle/>
          <a:p>
            <a:pPr algn="l" marL="0" indent="0" lvl="0">
              <a:lnSpc>
                <a:spcPts val="5124"/>
              </a:lnSpc>
            </a:pPr>
            <a:r>
              <a:rPr lang="en-US" b="true" sz="4270">
                <a:solidFill>
                  <a:srgbClr val="FFFFFF"/>
                </a:solidFill>
                <a:latin typeface="Poppins Bold"/>
                <a:ea typeface="Poppins Bold"/>
                <a:cs typeface="Poppins Bold"/>
                <a:sym typeface="Poppins Bold"/>
              </a:rPr>
              <a:t>СI &amp; CD PIPELINES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5735" y="761732"/>
            <a:ext cx="18423735" cy="8190377"/>
          </a:xfrm>
          <a:custGeom>
            <a:avLst/>
            <a:gdLst/>
            <a:ahLst/>
            <a:cxnLst/>
            <a:rect r="r" b="b" t="t" l="l"/>
            <a:pathLst>
              <a:path h="8190377" w="18423735">
                <a:moveTo>
                  <a:pt x="0" y="0"/>
                </a:moveTo>
                <a:lnTo>
                  <a:pt x="18423735" y="0"/>
                </a:lnTo>
                <a:lnTo>
                  <a:pt x="18423735" y="8190377"/>
                </a:lnTo>
                <a:lnTo>
                  <a:pt x="0" y="8190377"/>
                </a:lnTo>
                <a:lnTo>
                  <a:pt x="0" y="0"/>
                </a:lnTo>
                <a:close/>
              </a:path>
            </a:pathLst>
          </a:custGeom>
          <a:blipFill>
            <a:blip r:embed="rId2"/>
            <a:stretch>
              <a:fillRect l="0" t="-14130" r="0" b="-2559"/>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8823970" cy="6300019"/>
          </a:xfrm>
          <a:custGeom>
            <a:avLst/>
            <a:gdLst/>
            <a:ahLst/>
            <a:cxnLst/>
            <a:rect r="r" b="b" t="t" l="l"/>
            <a:pathLst>
              <a:path h="6300019" w="8823970">
                <a:moveTo>
                  <a:pt x="0" y="0"/>
                </a:moveTo>
                <a:lnTo>
                  <a:pt x="8823970" y="0"/>
                </a:lnTo>
                <a:lnTo>
                  <a:pt x="8823970" y="6300019"/>
                </a:lnTo>
                <a:lnTo>
                  <a:pt x="0" y="6300019"/>
                </a:lnTo>
                <a:lnTo>
                  <a:pt x="0" y="0"/>
                </a:lnTo>
                <a:close/>
              </a:path>
            </a:pathLst>
          </a:custGeom>
          <a:blipFill>
            <a:blip r:embed="rId2"/>
            <a:stretch>
              <a:fillRect l="0" t="0" r="0" b="-45898"/>
            </a:stretch>
          </a:blipFill>
        </p:spPr>
      </p:sp>
      <p:sp>
        <p:nvSpPr>
          <p:cNvPr name="Freeform 3" id="3"/>
          <p:cNvSpPr/>
          <p:nvPr/>
        </p:nvSpPr>
        <p:spPr>
          <a:xfrm flipH="false" flipV="false" rot="0">
            <a:off x="9231910" y="194169"/>
            <a:ext cx="9056090" cy="9898661"/>
          </a:xfrm>
          <a:custGeom>
            <a:avLst/>
            <a:gdLst/>
            <a:ahLst/>
            <a:cxnLst/>
            <a:rect r="r" b="b" t="t" l="l"/>
            <a:pathLst>
              <a:path h="9898661" w="9056090">
                <a:moveTo>
                  <a:pt x="0" y="0"/>
                </a:moveTo>
                <a:lnTo>
                  <a:pt x="9056090" y="0"/>
                </a:lnTo>
                <a:lnTo>
                  <a:pt x="9056090" y="9898662"/>
                </a:lnTo>
                <a:lnTo>
                  <a:pt x="0" y="9898662"/>
                </a:lnTo>
                <a:lnTo>
                  <a:pt x="0" y="0"/>
                </a:lnTo>
                <a:close/>
              </a:path>
            </a:pathLst>
          </a:custGeom>
          <a:blipFill>
            <a:blip r:embed="rId3"/>
            <a:stretch>
              <a:fillRect l="-2465" t="0" r="-2465"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3848245" y="-3691099"/>
            <a:ext cx="9639356" cy="8229600"/>
          </a:xfrm>
          <a:custGeom>
            <a:avLst/>
            <a:gdLst/>
            <a:ahLst/>
            <a:cxnLst/>
            <a:rect r="r" b="b" t="t" l="l"/>
            <a:pathLst>
              <a:path h="8229600" w="9639356">
                <a:moveTo>
                  <a:pt x="0" y="0"/>
                </a:moveTo>
                <a:lnTo>
                  <a:pt x="9639356" y="0"/>
                </a:lnTo>
                <a:lnTo>
                  <a:pt x="9639356"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1063500" y="844727"/>
            <a:ext cx="365156" cy="343578"/>
          </a:xfrm>
          <a:custGeom>
            <a:avLst/>
            <a:gdLst/>
            <a:ahLst/>
            <a:cxnLst/>
            <a:rect r="r" b="b" t="t" l="l"/>
            <a:pathLst>
              <a:path h="343578" w="365156">
                <a:moveTo>
                  <a:pt x="0" y="0"/>
                </a:moveTo>
                <a:lnTo>
                  <a:pt x="365155" y="0"/>
                </a:lnTo>
                <a:lnTo>
                  <a:pt x="365155" y="343578"/>
                </a:lnTo>
                <a:lnTo>
                  <a:pt x="0" y="343578"/>
                </a:lnTo>
                <a:lnTo>
                  <a:pt x="0" y="0"/>
                </a:lnTo>
                <a:close/>
              </a:path>
            </a:pathLst>
          </a:custGeom>
          <a:blipFill>
            <a:blip r:embed="rId4"/>
            <a:stretch>
              <a:fillRect l="0" t="0" r="0" b="0"/>
            </a:stretch>
          </a:blipFill>
        </p:spPr>
      </p:sp>
      <p:grpSp>
        <p:nvGrpSpPr>
          <p:cNvPr name="Group 5" id="5"/>
          <p:cNvGrpSpPr/>
          <p:nvPr/>
        </p:nvGrpSpPr>
        <p:grpSpPr>
          <a:xfrm rot="0">
            <a:off x="10491424" y="2917178"/>
            <a:ext cx="6767876" cy="5891077"/>
            <a:chOff x="0" y="0"/>
            <a:chExt cx="1304761" cy="1135725"/>
          </a:xfrm>
        </p:grpSpPr>
        <p:sp>
          <p:nvSpPr>
            <p:cNvPr name="Freeform 6" id="6"/>
            <p:cNvSpPr/>
            <p:nvPr/>
          </p:nvSpPr>
          <p:spPr>
            <a:xfrm flipH="false" flipV="false" rot="0">
              <a:off x="0" y="0"/>
              <a:ext cx="1304761" cy="1135725"/>
            </a:xfrm>
            <a:custGeom>
              <a:avLst/>
              <a:gdLst/>
              <a:ahLst/>
              <a:cxnLst/>
              <a:rect r="r" b="b" t="t" l="l"/>
              <a:pathLst>
                <a:path h="1135725" w="1304761">
                  <a:moveTo>
                    <a:pt x="45757" y="0"/>
                  </a:moveTo>
                  <a:lnTo>
                    <a:pt x="1259004" y="0"/>
                  </a:lnTo>
                  <a:cubicBezTo>
                    <a:pt x="1271139" y="0"/>
                    <a:pt x="1282778" y="4821"/>
                    <a:pt x="1291359" y="13402"/>
                  </a:cubicBezTo>
                  <a:cubicBezTo>
                    <a:pt x="1299940" y="21983"/>
                    <a:pt x="1304761" y="33621"/>
                    <a:pt x="1304761" y="45757"/>
                  </a:cubicBezTo>
                  <a:lnTo>
                    <a:pt x="1304761" y="1089968"/>
                  </a:lnTo>
                  <a:cubicBezTo>
                    <a:pt x="1304761" y="1115239"/>
                    <a:pt x="1284275" y="1135725"/>
                    <a:pt x="1259004" y="1135725"/>
                  </a:cubicBezTo>
                  <a:lnTo>
                    <a:pt x="45757" y="1135725"/>
                  </a:lnTo>
                  <a:cubicBezTo>
                    <a:pt x="20486" y="1135725"/>
                    <a:pt x="0" y="1115239"/>
                    <a:pt x="0" y="1089968"/>
                  </a:cubicBezTo>
                  <a:lnTo>
                    <a:pt x="0" y="45757"/>
                  </a:lnTo>
                  <a:cubicBezTo>
                    <a:pt x="0" y="20486"/>
                    <a:pt x="20486" y="0"/>
                    <a:pt x="45757" y="0"/>
                  </a:cubicBezTo>
                  <a:close/>
                </a:path>
              </a:pathLst>
            </a:custGeom>
            <a:blipFill>
              <a:blip r:embed="rId5"/>
              <a:stretch>
                <a:fillRect l="-20661" t="-11944" r="-78884" b="-981"/>
              </a:stretch>
            </a:blipFill>
            <a:ln w="209550" cap="rnd">
              <a:gradFill>
                <a:gsLst>
                  <a:gs pos="0">
                    <a:srgbClr val="0039E6">
                      <a:alpha val="100000"/>
                    </a:srgbClr>
                  </a:gs>
                  <a:gs pos="100000">
                    <a:srgbClr val="3CFFE2">
                      <a:alpha val="100000"/>
                    </a:srgbClr>
                  </a:gs>
                </a:gsLst>
                <a:path path="circle">
                  <a:fillToRect l="0" r="100000" t="0" b="100000"/>
                </a:path>
                <a:tileRect r="0" l="-100000" b="0" t="-100000"/>
              </a:gradFill>
              <a:prstDash val="solid"/>
              <a:round/>
            </a:ln>
          </p:spPr>
        </p:sp>
      </p:grpSp>
      <p:sp>
        <p:nvSpPr>
          <p:cNvPr name="TextBox 7" id="7"/>
          <p:cNvSpPr txBox="true"/>
          <p:nvPr/>
        </p:nvSpPr>
        <p:spPr>
          <a:xfrm rot="0">
            <a:off x="1428655" y="4668946"/>
            <a:ext cx="7486920" cy="3524256"/>
          </a:xfrm>
          <a:prstGeom prst="rect">
            <a:avLst/>
          </a:prstGeom>
        </p:spPr>
        <p:txBody>
          <a:bodyPr anchor="t" rtlCol="false" tIns="0" lIns="0" bIns="0" rIns="0">
            <a:spAutoFit/>
          </a:bodyPr>
          <a:lstStyle/>
          <a:p>
            <a:pPr algn="just">
              <a:lnSpc>
                <a:spcPts val="3149"/>
              </a:lnSpc>
              <a:spcBef>
                <a:spcPct val="0"/>
              </a:spcBef>
            </a:pPr>
            <a:r>
              <a:rPr lang="en-US" sz="2249">
                <a:solidFill>
                  <a:srgbClr val="FFFFFF"/>
                </a:solidFill>
                <a:latin typeface="Poppins"/>
                <a:ea typeface="Poppins"/>
                <a:cs typeface="Poppins"/>
                <a:sym typeface="Poppins"/>
              </a:rPr>
              <a:t>Real-time metrics powering our observability stack: Application performance tracking (CPU, memory, network utilization), And in our project we have 4 alerts:</a:t>
            </a:r>
          </a:p>
          <a:p>
            <a:pPr algn="just" marL="485725" indent="-242862" lvl="1">
              <a:lnSpc>
                <a:spcPts val="3149"/>
              </a:lnSpc>
              <a:spcBef>
                <a:spcPct val="0"/>
              </a:spcBef>
              <a:buAutoNum type="arabicPeriod" startAt="1"/>
            </a:pPr>
            <a:r>
              <a:rPr lang="en-US" sz="2249">
                <a:solidFill>
                  <a:srgbClr val="FFFFFF"/>
                </a:solidFill>
                <a:latin typeface="Poppins"/>
                <a:ea typeface="Poppins"/>
                <a:cs typeface="Poppins"/>
                <a:sym typeface="Poppins"/>
              </a:rPr>
              <a:t>App Gateway - UnhealthyHostCount &gt; 0</a:t>
            </a:r>
          </a:p>
          <a:p>
            <a:pPr algn="just" marL="485725" indent="-242862" lvl="1">
              <a:lnSpc>
                <a:spcPts val="3149"/>
              </a:lnSpc>
              <a:spcBef>
                <a:spcPct val="0"/>
              </a:spcBef>
              <a:buAutoNum type="arabicPeriod" startAt="1"/>
            </a:pPr>
            <a:r>
              <a:rPr lang="en-US" sz="2249">
                <a:solidFill>
                  <a:srgbClr val="FFFFFF"/>
                </a:solidFill>
                <a:latin typeface="Poppins"/>
                <a:ea typeface="Poppins"/>
                <a:cs typeface="Poppins"/>
                <a:sym typeface="Poppins"/>
              </a:rPr>
              <a:t>Frontend VMSS - CPU &gt; 70%</a:t>
            </a:r>
          </a:p>
          <a:p>
            <a:pPr algn="just" marL="485725" indent="-242862" lvl="1">
              <a:lnSpc>
                <a:spcPts val="3149"/>
              </a:lnSpc>
              <a:spcBef>
                <a:spcPct val="0"/>
              </a:spcBef>
              <a:buAutoNum type="arabicPeriod" startAt="1"/>
            </a:pPr>
            <a:r>
              <a:rPr lang="en-US" sz="2249">
                <a:solidFill>
                  <a:srgbClr val="FFFFFF"/>
                </a:solidFill>
                <a:latin typeface="Poppins"/>
                <a:ea typeface="Poppins"/>
                <a:cs typeface="Poppins"/>
                <a:sym typeface="Poppins"/>
              </a:rPr>
              <a:t>Backend VMSS - CPU &gt; 70%</a:t>
            </a:r>
          </a:p>
          <a:p>
            <a:pPr algn="just" marL="485725" indent="-242862" lvl="1">
              <a:lnSpc>
                <a:spcPts val="3149"/>
              </a:lnSpc>
              <a:spcBef>
                <a:spcPct val="0"/>
              </a:spcBef>
              <a:buAutoNum type="arabicPeriod" startAt="1"/>
            </a:pPr>
            <a:r>
              <a:rPr lang="en-US" sz="2249">
                <a:solidFill>
                  <a:srgbClr val="FFFFFF"/>
                </a:solidFill>
                <a:latin typeface="Poppins"/>
                <a:ea typeface="Poppins"/>
                <a:cs typeface="Poppins"/>
                <a:sym typeface="Poppins"/>
              </a:rPr>
              <a:t>SQL Database - CPU &gt; 80%</a:t>
            </a:r>
          </a:p>
          <a:p>
            <a:pPr algn="just" marL="0" indent="0" lvl="0">
              <a:lnSpc>
                <a:spcPts val="3149"/>
              </a:lnSpc>
              <a:spcBef>
                <a:spcPct val="0"/>
              </a:spcBef>
            </a:pPr>
            <a:r>
              <a:rPr lang="en-US" sz="2249">
                <a:solidFill>
                  <a:srgbClr val="FFFFFF"/>
                </a:solidFill>
                <a:latin typeface="Poppins"/>
                <a:ea typeface="Poppins"/>
                <a:cs typeface="Poppins"/>
                <a:sym typeface="Poppins"/>
              </a:rPr>
              <a:t>)</a:t>
            </a:r>
          </a:p>
        </p:txBody>
      </p:sp>
      <p:sp>
        <p:nvSpPr>
          <p:cNvPr name="Freeform 8" id="8"/>
          <p:cNvSpPr/>
          <p:nvPr/>
        </p:nvSpPr>
        <p:spPr>
          <a:xfrm flipH="false" flipV="false" rot="-836461">
            <a:off x="-2457704" y="7469670"/>
            <a:ext cx="6858273" cy="6009561"/>
          </a:xfrm>
          <a:custGeom>
            <a:avLst/>
            <a:gdLst/>
            <a:ahLst/>
            <a:cxnLst/>
            <a:rect r="r" b="b" t="t" l="l"/>
            <a:pathLst>
              <a:path h="6009561" w="6858273">
                <a:moveTo>
                  <a:pt x="0" y="0"/>
                </a:moveTo>
                <a:lnTo>
                  <a:pt x="6858273" y="0"/>
                </a:lnTo>
                <a:lnTo>
                  <a:pt x="6858273" y="6009561"/>
                </a:lnTo>
                <a:lnTo>
                  <a:pt x="0" y="6009561"/>
                </a:lnTo>
                <a:lnTo>
                  <a:pt x="0" y="0"/>
                </a:lnTo>
                <a:close/>
              </a:path>
            </a:pathLst>
          </a:custGeom>
          <a:blipFill>
            <a:blip r:embed="rId6"/>
            <a:stretch>
              <a:fillRect l="0" t="0" r="0" b="0"/>
            </a:stretch>
          </a:blipFill>
        </p:spPr>
      </p:sp>
      <p:sp>
        <p:nvSpPr>
          <p:cNvPr name="TextBox 9" id="9"/>
          <p:cNvSpPr txBox="true"/>
          <p:nvPr/>
        </p:nvSpPr>
        <p:spPr>
          <a:xfrm rot="0">
            <a:off x="1557999" y="828992"/>
            <a:ext cx="2916319" cy="342299"/>
          </a:xfrm>
          <a:prstGeom prst="rect">
            <a:avLst/>
          </a:prstGeom>
        </p:spPr>
        <p:txBody>
          <a:bodyPr anchor="t" rtlCol="false" tIns="0" lIns="0" bIns="0" rIns="0">
            <a:spAutoFit/>
          </a:bodyPr>
          <a:lstStyle/>
          <a:p>
            <a:pPr algn="l" marL="0" indent="0" lvl="0">
              <a:lnSpc>
                <a:spcPts val="2658"/>
              </a:lnSpc>
            </a:pPr>
            <a:r>
              <a:rPr lang="en-US" b="true" sz="1898">
                <a:solidFill>
                  <a:srgbClr val="FFFFFF"/>
                </a:solidFill>
                <a:latin typeface="Poppins Bold"/>
                <a:ea typeface="Poppins Bold"/>
                <a:cs typeface="Poppins Bold"/>
                <a:sym typeface="Poppins Bold"/>
              </a:rPr>
              <a:t>Burger Builder</a:t>
            </a:r>
          </a:p>
        </p:txBody>
      </p:sp>
      <p:sp>
        <p:nvSpPr>
          <p:cNvPr name="TextBox 10" id="10"/>
          <p:cNvSpPr txBox="true"/>
          <p:nvPr/>
        </p:nvSpPr>
        <p:spPr>
          <a:xfrm rot="0">
            <a:off x="9144000" y="965066"/>
            <a:ext cx="1662550" cy="400056"/>
          </a:xfrm>
          <a:prstGeom prst="rect">
            <a:avLst/>
          </a:prstGeom>
        </p:spPr>
        <p:txBody>
          <a:bodyPr anchor="t" rtlCol="false" tIns="0" lIns="0" bIns="0" rIns="0">
            <a:spAutoFit/>
          </a:bodyPr>
          <a:lstStyle/>
          <a:p>
            <a:pPr algn="r" marL="0" indent="0" lvl="0">
              <a:lnSpc>
                <a:spcPts val="3149"/>
              </a:lnSpc>
              <a:spcBef>
                <a:spcPct val="0"/>
              </a:spcBef>
            </a:pPr>
            <a:r>
              <a:rPr lang="en-US" sz="2249">
                <a:solidFill>
                  <a:srgbClr val="FFFFFF"/>
                </a:solidFill>
                <a:latin typeface="Poppins"/>
                <a:ea typeface="Poppins"/>
                <a:cs typeface="Poppins"/>
                <a:sym typeface="Poppins"/>
              </a:rPr>
              <a:t>Home</a:t>
            </a:r>
          </a:p>
        </p:txBody>
      </p:sp>
      <p:sp>
        <p:nvSpPr>
          <p:cNvPr name="TextBox 11" id="11"/>
          <p:cNvSpPr txBox="true"/>
          <p:nvPr/>
        </p:nvSpPr>
        <p:spPr>
          <a:xfrm rot="0">
            <a:off x="11408122" y="967280"/>
            <a:ext cx="1907082" cy="400056"/>
          </a:xfrm>
          <a:prstGeom prst="rect">
            <a:avLst/>
          </a:prstGeom>
        </p:spPr>
        <p:txBody>
          <a:bodyPr anchor="t" rtlCol="false" tIns="0" lIns="0" bIns="0" rIns="0">
            <a:spAutoFit/>
          </a:bodyPr>
          <a:lstStyle/>
          <a:p>
            <a:pPr algn="ctr" marL="0" indent="0" lvl="0">
              <a:lnSpc>
                <a:spcPts val="3149"/>
              </a:lnSpc>
              <a:spcBef>
                <a:spcPct val="0"/>
              </a:spcBef>
            </a:pPr>
            <a:r>
              <a:rPr lang="en-US" b="true" sz="2249">
                <a:solidFill>
                  <a:srgbClr val="FFFFFF"/>
                </a:solidFill>
                <a:latin typeface="Poppins Bold"/>
                <a:ea typeface="Poppins Bold"/>
                <a:cs typeface="Poppins Bold"/>
                <a:sym typeface="Poppins Bold"/>
              </a:rPr>
              <a:t>Monitor</a:t>
            </a:r>
          </a:p>
        </p:txBody>
      </p:sp>
      <p:sp>
        <p:nvSpPr>
          <p:cNvPr name="TextBox 12" id="12"/>
          <p:cNvSpPr txBox="true"/>
          <p:nvPr/>
        </p:nvSpPr>
        <p:spPr>
          <a:xfrm rot="0">
            <a:off x="13726729" y="943100"/>
            <a:ext cx="1916881" cy="400056"/>
          </a:xfrm>
          <a:prstGeom prst="rect">
            <a:avLst/>
          </a:prstGeom>
        </p:spPr>
        <p:txBody>
          <a:bodyPr anchor="t" rtlCol="false" tIns="0" lIns="0" bIns="0" rIns="0">
            <a:spAutoFit/>
          </a:bodyPr>
          <a:lstStyle/>
          <a:p>
            <a:pPr algn="ctr" marL="0" indent="0" lvl="0">
              <a:lnSpc>
                <a:spcPts val="3149"/>
              </a:lnSpc>
              <a:spcBef>
                <a:spcPct val="0"/>
              </a:spcBef>
            </a:pPr>
            <a:r>
              <a:rPr lang="en-US" sz="2249">
                <a:solidFill>
                  <a:srgbClr val="FFFFFF"/>
                </a:solidFill>
                <a:latin typeface="Poppins"/>
                <a:ea typeface="Poppins"/>
                <a:cs typeface="Poppins"/>
                <a:sym typeface="Poppins"/>
              </a:rPr>
              <a:t>Metrics</a:t>
            </a:r>
          </a:p>
        </p:txBody>
      </p:sp>
      <p:sp>
        <p:nvSpPr>
          <p:cNvPr name="TextBox 13" id="13"/>
          <p:cNvSpPr txBox="true"/>
          <p:nvPr/>
        </p:nvSpPr>
        <p:spPr>
          <a:xfrm rot="0">
            <a:off x="15034325" y="965066"/>
            <a:ext cx="2224975" cy="400056"/>
          </a:xfrm>
          <a:prstGeom prst="rect">
            <a:avLst/>
          </a:prstGeom>
        </p:spPr>
        <p:txBody>
          <a:bodyPr anchor="t" rtlCol="false" tIns="0" lIns="0" bIns="0" rIns="0">
            <a:spAutoFit/>
          </a:bodyPr>
          <a:lstStyle/>
          <a:p>
            <a:pPr algn="r" marL="0" indent="0" lvl="0">
              <a:lnSpc>
                <a:spcPts val="3149"/>
              </a:lnSpc>
              <a:spcBef>
                <a:spcPct val="0"/>
              </a:spcBef>
            </a:pPr>
            <a:r>
              <a:rPr lang="en-US" sz="2249">
                <a:solidFill>
                  <a:srgbClr val="FFFFFF"/>
                </a:solidFill>
                <a:latin typeface="Poppins"/>
                <a:ea typeface="Poppins"/>
                <a:cs typeface="Poppins"/>
                <a:sym typeface="Poppins"/>
              </a:rPr>
              <a:t>Alerts</a:t>
            </a:r>
          </a:p>
        </p:txBody>
      </p:sp>
      <p:sp>
        <p:nvSpPr>
          <p:cNvPr name="TextBox 14" id="14"/>
          <p:cNvSpPr txBox="true"/>
          <p:nvPr/>
        </p:nvSpPr>
        <p:spPr>
          <a:xfrm rot="0">
            <a:off x="1696095" y="2223510"/>
            <a:ext cx="4486180" cy="693669"/>
          </a:xfrm>
          <a:prstGeom prst="rect">
            <a:avLst/>
          </a:prstGeom>
        </p:spPr>
        <p:txBody>
          <a:bodyPr anchor="t" rtlCol="false" tIns="0" lIns="0" bIns="0" rIns="0">
            <a:spAutoFit/>
          </a:bodyPr>
          <a:lstStyle/>
          <a:p>
            <a:pPr algn="l" marL="0" indent="0" lvl="0">
              <a:lnSpc>
                <a:spcPts val="5124"/>
              </a:lnSpc>
            </a:pPr>
            <a:r>
              <a:rPr lang="en-US" b="true" sz="4270">
                <a:solidFill>
                  <a:srgbClr val="FFFFFF"/>
                </a:solidFill>
                <a:latin typeface="Poppins Bold"/>
                <a:ea typeface="Poppins Bold"/>
                <a:cs typeface="Poppins Bold"/>
                <a:sym typeface="Poppins Bold"/>
              </a:rPr>
              <a:t>AZURE MONITOR</a:t>
            </a:r>
          </a:p>
        </p:txBody>
      </p:sp>
      <p:sp>
        <p:nvSpPr>
          <p:cNvPr name="TextBox 15" id="15"/>
          <p:cNvSpPr txBox="true"/>
          <p:nvPr/>
        </p:nvSpPr>
        <p:spPr>
          <a:xfrm rot="0">
            <a:off x="1557999" y="3204054"/>
            <a:ext cx="9248551" cy="693669"/>
          </a:xfrm>
          <a:prstGeom prst="rect">
            <a:avLst/>
          </a:prstGeom>
        </p:spPr>
        <p:txBody>
          <a:bodyPr anchor="t" rtlCol="false" tIns="0" lIns="0" bIns="0" rIns="0">
            <a:spAutoFit/>
          </a:bodyPr>
          <a:lstStyle/>
          <a:p>
            <a:pPr algn="l" marL="0" indent="0" lvl="0">
              <a:lnSpc>
                <a:spcPts val="5124"/>
              </a:lnSpc>
            </a:pPr>
            <a:r>
              <a:rPr lang="en-US" b="true" sz="4270">
                <a:solidFill>
                  <a:srgbClr val="65FFE8"/>
                </a:solidFill>
                <a:latin typeface="Poppins Bold"/>
                <a:ea typeface="Poppins Bold"/>
                <a:cs typeface="Poppins Bold"/>
                <a:sym typeface="Poppins Bold"/>
              </a:rPr>
              <a:t>&amp; LOG ANALYTICS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3848245" y="-3691099"/>
            <a:ext cx="9639356" cy="8229600"/>
          </a:xfrm>
          <a:custGeom>
            <a:avLst/>
            <a:gdLst/>
            <a:ahLst/>
            <a:cxnLst/>
            <a:rect r="r" b="b" t="t" l="l"/>
            <a:pathLst>
              <a:path h="8229600" w="9639356">
                <a:moveTo>
                  <a:pt x="0" y="0"/>
                </a:moveTo>
                <a:lnTo>
                  <a:pt x="9639356" y="0"/>
                </a:lnTo>
                <a:lnTo>
                  <a:pt x="9639356"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1063500" y="844727"/>
            <a:ext cx="365156" cy="343578"/>
          </a:xfrm>
          <a:custGeom>
            <a:avLst/>
            <a:gdLst/>
            <a:ahLst/>
            <a:cxnLst/>
            <a:rect r="r" b="b" t="t" l="l"/>
            <a:pathLst>
              <a:path h="343578" w="365156">
                <a:moveTo>
                  <a:pt x="0" y="0"/>
                </a:moveTo>
                <a:lnTo>
                  <a:pt x="365155" y="0"/>
                </a:lnTo>
                <a:lnTo>
                  <a:pt x="365155" y="343578"/>
                </a:lnTo>
                <a:lnTo>
                  <a:pt x="0" y="343578"/>
                </a:lnTo>
                <a:lnTo>
                  <a:pt x="0" y="0"/>
                </a:lnTo>
                <a:close/>
              </a:path>
            </a:pathLst>
          </a:custGeom>
          <a:blipFill>
            <a:blip r:embed="rId4"/>
            <a:stretch>
              <a:fillRect l="0" t="0" r="0" b="0"/>
            </a:stretch>
          </a:blipFill>
        </p:spPr>
      </p:sp>
      <p:grpSp>
        <p:nvGrpSpPr>
          <p:cNvPr name="Group 5" id="5"/>
          <p:cNvGrpSpPr/>
          <p:nvPr/>
        </p:nvGrpSpPr>
        <p:grpSpPr>
          <a:xfrm rot="0">
            <a:off x="11034915" y="2007216"/>
            <a:ext cx="5673157" cy="7575091"/>
            <a:chOff x="0" y="0"/>
            <a:chExt cx="1320861" cy="1763682"/>
          </a:xfrm>
        </p:grpSpPr>
        <p:sp>
          <p:nvSpPr>
            <p:cNvPr name="Freeform 6" id="6"/>
            <p:cNvSpPr/>
            <p:nvPr/>
          </p:nvSpPr>
          <p:spPr>
            <a:xfrm flipH="false" flipV="false" rot="0">
              <a:off x="0" y="0"/>
              <a:ext cx="1320861" cy="1763681"/>
            </a:xfrm>
            <a:custGeom>
              <a:avLst/>
              <a:gdLst/>
              <a:ahLst/>
              <a:cxnLst/>
              <a:rect r="r" b="b" t="t" l="l"/>
              <a:pathLst>
                <a:path h="1763681" w="1320861">
                  <a:moveTo>
                    <a:pt x="54586" y="0"/>
                  </a:moveTo>
                  <a:lnTo>
                    <a:pt x="1266275" y="0"/>
                  </a:lnTo>
                  <a:cubicBezTo>
                    <a:pt x="1280752" y="0"/>
                    <a:pt x="1294636" y="5751"/>
                    <a:pt x="1304873" y="15988"/>
                  </a:cubicBezTo>
                  <a:cubicBezTo>
                    <a:pt x="1315110" y="26225"/>
                    <a:pt x="1320861" y="40109"/>
                    <a:pt x="1320861" y="54586"/>
                  </a:cubicBezTo>
                  <a:lnTo>
                    <a:pt x="1320861" y="1709095"/>
                  </a:lnTo>
                  <a:cubicBezTo>
                    <a:pt x="1320861" y="1723572"/>
                    <a:pt x="1315110" y="1737457"/>
                    <a:pt x="1304873" y="1747694"/>
                  </a:cubicBezTo>
                  <a:cubicBezTo>
                    <a:pt x="1294636" y="1757930"/>
                    <a:pt x="1280752" y="1763681"/>
                    <a:pt x="1266275" y="1763681"/>
                  </a:cubicBezTo>
                  <a:lnTo>
                    <a:pt x="54586" y="1763681"/>
                  </a:lnTo>
                  <a:cubicBezTo>
                    <a:pt x="40109" y="1763681"/>
                    <a:pt x="26225" y="1757930"/>
                    <a:pt x="15988" y="1747694"/>
                  </a:cubicBezTo>
                  <a:cubicBezTo>
                    <a:pt x="5751" y="1737457"/>
                    <a:pt x="0" y="1723572"/>
                    <a:pt x="0" y="1709095"/>
                  </a:cubicBezTo>
                  <a:lnTo>
                    <a:pt x="0" y="54586"/>
                  </a:lnTo>
                  <a:cubicBezTo>
                    <a:pt x="0" y="40109"/>
                    <a:pt x="5751" y="26225"/>
                    <a:pt x="15988" y="15988"/>
                  </a:cubicBezTo>
                  <a:cubicBezTo>
                    <a:pt x="26225" y="5751"/>
                    <a:pt x="40109" y="0"/>
                    <a:pt x="54586" y="0"/>
                  </a:cubicBezTo>
                  <a:close/>
                </a:path>
              </a:pathLst>
            </a:custGeom>
            <a:blipFill>
              <a:blip r:embed="rId5"/>
              <a:stretch>
                <a:fillRect l="0" t="-31184" r="0" b="-31184"/>
              </a:stretch>
            </a:blipFill>
            <a:ln w="209550" cap="rnd">
              <a:gradFill>
                <a:gsLst>
                  <a:gs pos="0">
                    <a:srgbClr val="0039E6">
                      <a:alpha val="100000"/>
                    </a:srgbClr>
                  </a:gs>
                  <a:gs pos="100000">
                    <a:srgbClr val="3CFFE2">
                      <a:alpha val="100000"/>
                    </a:srgbClr>
                  </a:gs>
                </a:gsLst>
                <a:path path="circle">
                  <a:fillToRect l="0" r="100000" t="0" b="100000"/>
                </a:path>
                <a:tileRect r="0" l="-100000" b="0" t="-100000"/>
              </a:gradFill>
              <a:prstDash val="solid"/>
              <a:round/>
            </a:ln>
          </p:spPr>
        </p:sp>
      </p:grpSp>
      <p:sp>
        <p:nvSpPr>
          <p:cNvPr name="Freeform 7" id="7"/>
          <p:cNvSpPr/>
          <p:nvPr/>
        </p:nvSpPr>
        <p:spPr>
          <a:xfrm flipH="false" flipV="false" rot="-836461">
            <a:off x="-2457704" y="7469670"/>
            <a:ext cx="6858273" cy="6009561"/>
          </a:xfrm>
          <a:custGeom>
            <a:avLst/>
            <a:gdLst/>
            <a:ahLst/>
            <a:cxnLst/>
            <a:rect r="r" b="b" t="t" l="l"/>
            <a:pathLst>
              <a:path h="6009561" w="6858273">
                <a:moveTo>
                  <a:pt x="0" y="0"/>
                </a:moveTo>
                <a:lnTo>
                  <a:pt x="6858273" y="0"/>
                </a:lnTo>
                <a:lnTo>
                  <a:pt x="6858273" y="6009561"/>
                </a:lnTo>
                <a:lnTo>
                  <a:pt x="0" y="6009561"/>
                </a:lnTo>
                <a:lnTo>
                  <a:pt x="0" y="0"/>
                </a:lnTo>
                <a:close/>
              </a:path>
            </a:pathLst>
          </a:custGeom>
          <a:blipFill>
            <a:blip r:embed="rId6"/>
            <a:stretch>
              <a:fillRect l="0" t="0" r="0" b="0"/>
            </a:stretch>
          </a:blipFill>
        </p:spPr>
      </p:sp>
      <p:sp>
        <p:nvSpPr>
          <p:cNvPr name="TextBox 8" id="8"/>
          <p:cNvSpPr txBox="true"/>
          <p:nvPr/>
        </p:nvSpPr>
        <p:spPr>
          <a:xfrm rot="0">
            <a:off x="1557999" y="828992"/>
            <a:ext cx="2916319" cy="342299"/>
          </a:xfrm>
          <a:prstGeom prst="rect">
            <a:avLst/>
          </a:prstGeom>
        </p:spPr>
        <p:txBody>
          <a:bodyPr anchor="t" rtlCol="false" tIns="0" lIns="0" bIns="0" rIns="0">
            <a:spAutoFit/>
          </a:bodyPr>
          <a:lstStyle/>
          <a:p>
            <a:pPr algn="l" marL="0" indent="0" lvl="0">
              <a:lnSpc>
                <a:spcPts val="2658"/>
              </a:lnSpc>
            </a:pPr>
            <a:r>
              <a:rPr lang="en-US" b="true" sz="1898">
                <a:solidFill>
                  <a:srgbClr val="FFFFFF"/>
                </a:solidFill>
                <a:latin typeface="Poppins Bold"/>
                <a:ea typeface="Poppins Bold"/>
                <a:cs typeface="Poppins Bold"/>
                <a:sym typeface="Poppins Bold"/>
              </a:rPr>
              <a:t>Burger Builder</a:t>
            </a:r>
          </a:p>
        </p:txBody>
      </p:sp>
      <p:sp>
        <p:nvSpPr>
          <p:cNvPr name="TextBox 9" id="9"/>
          <p:cNvSpPr txBox="true"/>
          <p:nvPr/>
        </p:nvSpPr>
        <p:spPr>
          <a:xfrm rot="0">
            <a:off x="9144000" y="965066"/>
            <a:ext cx="1662550" cy="400056"/>
          </a:xfrm>
          <a:prstGeom prst="rect">
            <a:avLst/>
          </a:prstGeom>
        </p:spPr>
        <p:txBody>
          <a:bodyPr anchor="t" rtlCol="false" tIns="0" lIns="0" bIns="0" rIns="0">
            <a:spAutoFit/>
          </a:bodyPr>
          <a:lstStyle/>
          <a:p>
            <a:pPr algn="r" marL="0" indent="0" lvl="0">
              <a:lnSpc>
                <a:spcPts val="3149"/>
              </a:lnSpc>
              <a:spcBef>
                <a:spcPct val="0"/>
              </a:spcBef>
            </a:pPr>
            <a:r>
              <a:rPr lang="en-US" sz="2249">
                <a:solidFill>
                  <a:srgbClr val="FFFFFF"/>
                </a:solidFill>
                <a:latin typeface="Poppins"/>
                <a:ea typeface="Poppins"/>
                <a:cs typeface="Poppins"/>
                <a:sym typeface="Poppins"/>
              </a:rPr>
              <a:t>Home</a:t>
            </a:r>
          </a:p>
        </p:txBody>
      </p:sp>
      <p:sp>
        <p:nvSpPr>
          <p:cNvPr name="TextBox 10" id="10"/>
          <p:cNvSpPr txBox="true"/>
          <p:nvPr/>
        </p:nvSpPr>
        <p:spPr>
          <a:xfrm rot="0">
            <a:off x="11408122" y="967280"/>
            <a:ext cx="1907082" cy="400056"/>
          </a:xfrm>
          <a:prstGeom prst="rect">
            <a:avLst/>
          </a:prstGeom>
        </p:spPr>
        <p:txBody>
          <a:bodyPr anchor="t" rtlCol="false" tIns="0" lIns="0" bIns="0" rIns="0">
            <a:spAutoFit/>
          </a:bodyPr>
          <a:lstStyle/>
          <a:p>
            <a:pPr algn="ctr" marL="0" indent="0" lvl="0">
              <a:lnSpc>
                <a:spcPts val="3149"/>
              </a:lnSpc>
              <a:spcBef>
                <a:spcPct val="0"/>
              </a:spcBef>
            </a:pPr>
            <a:r>
              <a:rPr lang="en-US" b="true" sz="2249">
                <a:solidFill>
                  <a:srgbClr val="FFFFFF"/>
                </a:solidFill>
                <a:latin typeface="Poppins Bold"/>
                <a:ea typeface="Poppins Bold"/>
                <a:cs typeface="Poppins Bold"/>
                <a:sym typeface="Poppins Bold"/>
              </a:rPr>
              <a:t>Monitor</a:t>
            </a:r>
          </a:p>
        </p:txBody>
      </p:sp>
      <p:sp>
        <p:nvSpPr>
          <p:cNvPr name="TextBox 11" id="11"/>
          <p:cNvSpPr txBox="true"/>
          <p:nvPr/>
        </p:nvSpPr>
        <p:spPr>
          <a:xfrm rot="0">
            <a:off x="13726729" y="943100"/>
            <a:ext cx="1916881" cy="400056"/>
          </a:xfrm>
          <a:prstGeom prst="rect">
            <a:avLst/>
          </a:prstGeom>
        </p:spPr>
        <p:txBody>
          <a:bodyPr anchor="t" rtlCol="false" tIns="0" lIns="0" bIns="0" rIns="0">
            <a:spAutoFit/>
          </a:bodyPr>
          <a:lstStyle/>
          <a:p>
            <a:pPr algn="ctr" marL="0" indent="0" lvl="0">
              <a:lnSpc>
                <a:spcPts val="3149"/>
              </a:lnSpc>
              <a:spcBef>
                <a:spcPct val="0"/>
              </a:spcBef>
            </a:pPr>
            <a:r>
              <a:rPr lang="en-US" sz="2249">
                <a:solidFill>
                  <a:srgbClr val="FFFFFF"/>
                </a:solidFill>
                <a:latin typeface="Poppins"/>
                <a:ea typeface="Poppins"/>
                <a:cs typeface="Poppins"/>
                <a:sym typeface="Poppins"/>
              </a:rPr>
              <a:t>Metrics</a:t>
            </a:r>
          </a:p>
        </p:txBody>
      </p:sp>
      <p:sp>
        <p:nvSpPr>
          <p:cNvPr name="TextBox 12" id="12"/>
          <p:cNvSpPr txBox="true"/>
          <p:nvPr/>
        </p:nvSpPr>
        <p:spPr>
          <a:xfrm rot="0">
            <a:off x="15034325" y="965066"/>
            <a:ext cx="2224975" cy="400056"/>
          </a:xfrm>
          <a:prstGeom prst="rect">
            <a:avLst/>
          </a:prstGeom>
        </p:spPr>
        <p:txBody>
          <a:bodyPr anchor="t" rtlCol="false" tIns="0" lIns="0" bIns="0" rIns="0">
            <a:spAutoFit/>
          </a:bodyPr>
          <a:lstStyle/>
          <a:p>
            <a:pPr algn="r" marL="0" indent="0" lvl="0">
              <a:lnSpc>
                <a:spcPts val="3149"/>
              </a:lnSpc>
              <a:spcBef>
                <a:spcPct val="0"/>
              </a:spcBef>
            </a:pPr>
            <a:r>
              <a:rPr lang="en-US" sz="2249">
                <a:solidFill>
                  <a:srgbClr val="FFFFFF"/>
                </a:solidFill>
                <a:latin typeface="Poppins"/>
                <a:ea typeface="Poppins"/>
                <a:cs typeface="Poppins"/>
                <a:sym typeface="Poppins"/>
              </a:rPr>
              <a:t>Alerts</a:t>
            </a:r>
          </a:p>
        </p:txBody>
      </p:sp>
      <p:sp>
        <p:nvSpPr>
          <p:cNvPr name="TextBox 13" id="13"/>
          <p:cNvSpPr txBox="true"/>
          <p:nvPr/>
        </p:nvSpPr>
        <p:spPr>
          <a:xfrm rot="0">
            <a:off x="1147795" y="2643026"/>
            <a:ext cx="8827480" cy="5800725"/>
          </a:xfrm>
          <a:prstGeom prst="rect">
            <a:avLst/>
          </a:prstGeom>
        </p:spPr>
        <p:txBody>
          <a:bodyPr anchor="t" rtlCol="false" tIns="0" lIns="0" bIns="0" rIns="0">
            <a:spAutoFit/>
          </a:bodyPr>
          <a:lstStyle/>
          <a:p>
            <a:pPr algn="l">
              <a:lnSpc>
                <a:spcPts val="5124"/>
              </a:lnSpc>
            </a:pPr>
            <a:r>
              <a:rPr lang="en-US" sz="4270" b="true">
                <a:solidFill>
                  <a:srgbClr val="FFFFFF"/>
                </a:solidFill>
                <a:latin typeface="Poppins Bold"/>
                <a:ea typeface="Poppins Bold"/>
                <a:cs typeface="Poppins Bold"/>
                <a:sym typeface="Poppins Bold"/>
              </a:rPr>
              <a:t>TELEGRAM BOT  FOR ALERTS</a:t>
            </a:r>
          </a:p>
          <a:p>
            <a:pPr algn="l">
              <a:lnSpc>
                <a:spcPts val="5124"/>
              </a:lnSpc>
            </a:pPr>
            <a:r>
              <a:rPr lang="en-US" sz="4270" b="true">
                <a:solidFill>
                  <a:srgbClr val="FFFFFF"/>
                </a:solidFill>
                <a:latin typeface="Poppins Bold"/>
                <a:ea typeface="Poppins Bold"/>
                <a:cs typeface="Poppins Bold"/>
                <a:sym typeface="Poppins Bold"/>
              </a:rPr>
              <a:t>(OUR NEW FEATURE)</a:t>
            </a:r>
          </a:p>
          <a:p>
            <a:pPr algn="l">
              <a:lnSpc>
                <a:spcPts val="3324"/>
              </a:lnSpc>
            </a:pPr>
          </a:p>
          <a:p>
            <a:pPr algn="l">
              <a:lnSpc>
                <a:spcPts val="3324"/>
              </a:lnSpc>
            </a:pPr>
            <a:r>
              <a:rPr lang="en-US" sz="2770">
                <a:solidFill>
                  <a:srgbClr val="FFFFFF"/>
                </a:solidFill>
                <a:latin typeface="Canva Sans"/>
                <a:ea typeface="Canva Sans"/>
                <a:cs typeface="Canva Sans"/>
                <a:sym typeface="Canva Sans"/>
              </a:rPr>
              <a:t>ALERT</a:t>
            </a:r>
            <a:r>
              <a:rPr lang="en-US" sz="2770" b="true">
                <a:solidFill>
                  <a:srgbClr val="FFFFFF"/>
                </a:solidFill>
                <a:latin typeface="Canva Sans Bold"/>
                <a:ea typeface="Canva Sans Bold"/>
                <a:cs typeface="Canva Sans Bold"/>
                <a:sym typeface="Canva Sans Bold"/>
              </a:rPr>
              <a:t> </a:t>
            </a:r>
            <a:r>
              <a:rPr lang="en-US" sz="2770">
                <a:solidFill>
                  <a:srgbClr val="FFFFFF"/>
                </a:solidFill>
                <a:latin typeface="Canva Sans"/>
                <a:ea typeface="Canva Sans"/>
                <a:cs typeface="Canva Sans"/>
                <a:sym typeface="Canva Sans"/>
              </a:rPr>
              <a:t>NOTIFICATIONS ARE AUTOMATICALLY SENT TO OUR TELEGRAM BOT FOR FAST REACTION AND TO OUR TEAM GMAIL FOR MORE DETAILED REPORTS. THIS WAY WE ALWAYS STAY IN CONTROL OF THE APPLICATION’S HEALTH."</a:t>
            </a:r>
          </a:p>
          <a:p>
            <a:pPr algn="l">
              <a:lnSpc>
                <a:spcPts val="5124"/>
              </a:lnSpc>
            </a:pPr>
          </a:p>
          <a:p>
            <a:pPr algn="l">
              <a:lnSpc>
                <a:spcPts val="5124"/>
              </a:lnSpc>
            </a:pPr>
          </a:p>
          <a:p>
            <a:pPr algn="l" marL="0" indent="0" lvl="0">
              <a:lnSpc>
                <a:spcPts val="5124"/>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3848245" y="-3691099"/>
            <a:ext cx="9639356" cy="8229600"/>
          </a:xfrm>
          <a:custGeom>
            <a:avLst/>
            <a:gdLst/>
            <a:ahLst/>
            <a:cxnLst/>
            <a:rect r="r" b="b" t="t" l="l"/>
            <a:pathLst>
              <a:path h="8229600" w="9639356">
                <a:moveTo>
                  <a:pt x="0" y="0"/>
                </a:moveTo>
                <a:lnTo>
                  <a:pt x="9639356" y="0"/>
                </a:lnTo>
                <a:lnTo>
                  <a:pt x="9639356"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1063500" y="844727"/>
            <a:ext cx="365156" cy="343578"/>
          </a:xfrm>
          <a:custGeom>
            <a:avLst/>
            <a:gdLst/>
            <a:ahLst/>
            <a:cxnLst/>
            <a:rect r="r" b="b" t="t" l="l"/>
            <a:pathLst>
              <a:path h="343578" w="365156">
                <a:moveTo>
                  <a:pt x="0" y="0"/>
                </a:moveTo>
                <a:lnTo>
                  <a:pt x="365155" y="0"/>
                </a:lnTo>
                <a:lnTo>
                  <a:pt x="365155" y="343578"/>
                </a:lnTo>
                <a:lnTo>
                  <a:pt x="0" y="343578"/>
                </a:lnTo>
                <a:lnTo>
                  <a:pt x="0" y="0"/>
                </a:lnTo>
                <a:close/>
              </a:path>
            </a:pathLst>
          </a:custGeom>
          <a:blipFill>
            <a:blip r:embed="rId4"/>
            <a:stretch>
              <a:fillRect l="0" t="0" r="0" b="0"/>
            </a:stretch>
          </a:blipFill>
        </p:spPr>
      </p:sp>
      <p:sp>
        <p:nvSpPr>
          <p:cNvPr name="TextBox 5" id="5"/>
          <p:cNvSpPr txBox="true"/>
          <p:nvPr/>
        </p:nvSpPr>
        <p:spPr>
          <a:xfrm rot="0">
            <a:off x="3016159" y="3193479"/>
            <a:ext cx="8186471" cy="6064821"/>
          </a:xfrm>
          <a:prstGeom prst="rect">
            <a:avLst/>
          </a:prstGeom>
        </p:spPr>
        <p:txBody>
          <a:bodyPr anchor="t" rtlCol="false" tIns="0" lIns="0" bIns="0" rIns="0">
            <a:spAutoFit/>
          </a:bodyPr>
          <a:lstStyle/>
          <a:p>
            <a:pPr algn="l" marL="0" indent="0" lvl="0">
              <a:lnSpc>
                <a:spcPts val="3443"/>
              </a:lnSpc>
              <a:spcBef>
                <a:spcPct val="0"/>
              </a:spcBef>
            </a:pPr>
            <a:r>
              <a:rPr lang="en-US" sz="2459">
                <a:solidFill>
                  <a:srgbClr val="FFFFFF"/>
                </a:solidFill>
                <a:latin typeface="Poppins"/>
                <a:ea typeface="Poppins"/>
                <a:cs typeface="Poppins"/>
                <a:sym typeface="Poppins"/>
              </a:rPr>
              <a:t>We start with 1 VM per tier and designed the architecture for horizontal scaling using Azure Virtual Machine Scale Sets (VMSS).</a:t>
            </a:r>
          </a:p>
          <a:p>
            <a:pPr algn="l" marL="0" indent="0" lvl="0">
              <a:lnSpc>
                <a:spcPts val="3443"/>
              </a:lnSpc>
              <a:spcBef>
                <a:spcPct val="0"/>
              </a:spcBef>
            </a:pPr>
            <a:r>
              <a:rPr lang="en-US" sz="2459">
                <a:solidFill>
                  <a:srgbClr val="FFFFFF"/>
                </a:solidFill>
                <a:latin typeface="Poppins"/>
                <a:ea typeface="Poppins"/>
                <a:cs typeface="Poppins"/>
                <a:sym typeface="Poppins"/>
              </a:rPr>
              <a:t>Autoscaling Rules</a:t>
            </a:r>
          </a:p>
          <a:p>
            <a:pPr algn="l" marL="0" indent="0" lvl="0">
              <a:lnSpc>
                <a:spcPts val="3443"/>
              </a:lnSpc>
              <a:spcBef>
                <a:spcPct val="0"/>
              </a:spcBef>
            </a:pPr>
            <a:r>
              <a:rPr lang="en-US" sz="2459">
                <a:solidFill>
                  <a:srgbClr val="FFFFFF"/>
                </a:solidFill>
                <a:latin typeface="Poppins"/>
                <a:ea typeface="Poppins"/>
                <a:cs typeface="Poppins"/>
                <a:sym typeface="Poppins"/>
              </a:rPr>
              <a:t>Scale  (UP)</a:t>
            </a:r>
          </a:p>
          <a:p>
            <a:pPr algn="l" marL="531109" indent="-265555" lvl="1">
              <a:lnSpc>
                <a:spcPts val="3443"/>
              </a:lnSpc>
              <a:spcBef>
                <a:spcPct val="0"/>
              </a:spcBef>
              <a:buFont typeface="Arial"/>
              <a:buChar char="•"/>
            </a:pPr>
            <a:r>
              <a:rPr lang="en-US" sz="2459">
                <a:solidFill>
                  <a:srgbClr val="FFFFFF"/>
                </a:solidFill>
                <a:latin typeface="Poppins"/>
                <a:ea typeface="Poppins"/>
                <a:cs typeface="Poppins"/>
                <a:sym typeface="Poppins"/>
              </a:rPr>
              <a:t>Metric: CPU Percentage</a:t>
            </a:r>
          </a:p>
          <a:p>
            <a:pPr algn="l" marL="531109" indent="-265555" lvl="1">
              <a:lnSpc>
                <a:spcPts val="3443"/>
              </a:lnSpc>
              <a:spcBef>
                <a:spcPct val="0"/>
              </a:spcBef>
              <a:buFont typeface="Arial"/>
              <a:buChar char="•"/>
            </a:pPr>
            <a:r>
              <a:rPr lang="en-US" sz="2459">
                <a:solidFill>
                  <a:srgbClr val="FFFFFF"/>
                </a:solidFill>
                <a:latin typeface="Poppins"/>
                <a:ea typeface="Poppins"/>
                <a:cs typeface="Poppins"/>
                <a:sym typeface="Poppins"/>
              </a:rPr>
              <a:t>Condition: Average CPU &gt; 60% over 10 minutes</a:t>
            </a:r>
          </a:p>
          <a:p>
            <a:pPr algn="l" marL="531109" indent="-265555" lvl="1">
              <a:lnSpc>
                <a:spcPts val="3443"/>
              </a:lnSpc>
              <a:spcBef>
                <a:spcPct val="0"/>
              </a:spcBef>
              <a:buFont typeface="Arial"/>
              <a:buChar char="•"/>
            </a:pPr>
            <a:r>
              <a:rPr lang="en-US" sz="2459">
                <a:solidFill>
                  <a:srgbClr val="FFFFFF"/>
                </a:solidFill>
                <a:latin typeface="Poppins"/>
                <a:ea typeface="Poppins"/>
                <a:cs typeface="Poppins"/>
                <a:sym typeface="Poppins"/>
              </a:rPr>
              <a:t>Action: Add 1 instance</a:t>
            </a:r>
          </a:p>
          <a:p>
            <a:pPr algn="l" marL="531109" indent="-265555" lvl="1">
              <a:lnSpc>
                <a:spcPts val="3443"/>
              </a:lnSpc>
              <a:spcBef>
                <a:spcPct val="0"/>
              </a:spcBef>
              <a:buFont typeface="Arial"/>
              <a:buChar char="•"/>
            </a:pPr>
            <a:r>
              <a:rPr lang="en-US" sz="2459">
                <a:solidFill>
                  <a:srgbClr val="FFFFFF"/>
                </a:solidFill>
                <a:latin typeface="Poppins"/>
                <a:ea typeface="Poppins"/>
                <a:cs typeface="Poppins"/>
                <a:sym typeface="Poppins"/>
              </a:rPr>
              <a:t>Maximum: 3 instances</a:t>
            </a:r>
          </a:p>
          <a:p>
            <a:pPr algn="l" marL="0" indent="0" lvl="0">
              <a:lnSpc>
                <a:spcPts val="3443"/>
              </a:lnSpc>
              <a:spcBef>
                <a:spcPct val="0"/>
              </a:spcBef>
            </a:pPr>
            <a:r>
              <a:rPr lang="en-US" sz="2459">
                <a:solidFill>
                  <a:srgbClr val="FFFFFF"/>
                </a:solidFill>
                <a:latin typeface="Poppins"/>
                <a:ea typeface="Poppins"/>
                <a:cs typeface="Poppins"/>
                <a:sym typeface="Poppins"/>
              </a:rPr>
              <a:t>Scale (DOWN)</a:t>
            </a:r>
          </a:p>
          <a:p>
            <a:pPr algn="l" marL="531109" indent="-265555" lvl="1">
              <a:lnSpc>
                <a:spcPts val="3443"/>
              </a:lnSpc>
              <a:spcBef>
                <a:spcPct val="0"/>
              </a:spcBef>
              <a:buFont typeface="Arial"/>
              <a:buChar char="•"/>
            </a:pPr>
            <a:r>
              <a:rPr lang="en-US" sz="2459">
                <a:solidFill>
                  <a:srgbClr val="FFFFFF"/>
                </a:solidFill>
                <a:latin typeface="Poppins"/>
                <a:ea typeface="Poppins"/>
                <a:cs typeface="Poppins"/>
                <a:sym typeface="Poppins"/>
              </a:rPr>
              <a:t>Metric: CPU Percentage</a:t>
            </a:r>
          </a:p>
          <a:p>
            <a:pPr algn="l" marL="531109" indent="-265555" lvl="1">
              <a:lnSpc>
                <a:spcPts val="3443"/>
              </a:lnSpc>
              <a:spcBef>
                <a:spcPct val="0"/>
              </a:spcBef>
              <a:buFont typeface="Arial"/>
              <a:buChar char="•"/>
            </a:pPr>
            <a:r>
              <a:rPr lang="en-US" sz="2459">
                <a:solidFill>
                  <a:srgbClr val="FFFFFF"/>
                </a:solidFill>
                <a:latin typeface="Poppins"/>
                <a:ea typeface="Poppins"/>
                <a:cs typeface="Poppins"/>
                <a:sym typeface="Poppins"/>
              </a:rPr>
              <a:t>Condition: Average CPU &lt; 25% over 10 minutes</a:t>
            </a:r>
          </a:p>
          <a:p>
            <a:pPr algn="l" marL="531109" indent="-265555" lvl="1">
              <a:lnSpc>
                <a:spcPts val="3443"/>
              </a:lnSpc>
              <a:spcBef>
                <a:spcPct val="0"/>
              </a:spcBef>
              <a:buFont typeface="Arial"/>
              <a:buChar char="•"/>
            </a:pPr>
            <a:r>
              <a:rPr lang="en-US" sz="2459">
                <a:solidFill>
                  <a:srgbClr val="FFFFFF"/>
                </a:solidFill>
                <a:latin typeface="Poppins"/>
                <a:ea typeface="Poppins"/>
                <a:cs typeface="Poppins"/>
                <a:sym typeface="Poppins"/>
              </a:rPr>
              <a:t>Action: Remove 1 instance</a:t>
            </a:r>
          </a:p>
          <a:p>
            <a:pPr algn="l" marL="0" indent="0" lvl="0">
              <a:lnSpc>
                <a:spcPts val="3443"/>
              </a:lnSpc>
              <a:spcBef>
                <a:spcPct val="0"/>
              </a:spcBef>
            </a:pPr>
          </a:p>
        </p:txBody>
      </p:sp>
      <p:sp>
        <p:nvSpPr>
          <p:cNvPr name="Freeform 6" id="6"/>
          <p:cNvSpPr/>
          <p:nvPr/>
        </p:nvSpPr>
        <p:spPr>
          <a:xfrm flipH="false" flipV="false" rot="-836461">
            <a:off x="-2457704" y="7469670"/>
            <a:ext cx="6858273" cy="6009561"/>
          </a:xfrm>
          <a:custGeom>
            <a:avLst/>
            <a:gdLst/>
            <a:ahLst/>
            <a:cxnLst/>
            <a:rect r="r" b="b" t="t" l="l"/>
            <a:pathLst>
              <a:path h="6009561" w="6858273">
                <a:moveTo>
                  <a:pt x="0" y="0"/>
                </a:moveTo>
                <a:lnTo>
                  <a:pt x="6858273" y="0"/>
                </a:lnTo>
                <a:lnTo>
                  <a:pt x="6858273" y="6009561"/>
                </a:lnTo>
                <a:lnTo>
                  <a:pt x="0" y="6009561"/>
                </a:lnTo>
                <a:lnTo>
                  <a:pt x="0" y="0"/>
                </a:lnTo>
                <a:close/>
              </a:path>
            </a:pathLst>
          </a:custGeom>
          <a:blipFill>
            <a:blip r:embed="rId5"/>
            <a:stretch>
              <a:fillRect l="0" t="0" r="0" b="0"/>
            </a:stretch>
          </a:blipFill>
        </p:spPr>
      </p:sp>
      <p:sp>
        <p:nvSpPr>
          <p:cNvPr name="Freeform 7" id="7"/>
          <p:cNvSpPr/>
          <p:nvPr/>
        </p:nvSpPr>
        <p:spPr>
          <a:xfrm flipH="false" flipV="false" rot="0">
            <a:off x="11531931" y="1270757"/>
            <a:ext cx="6019800" cy="7987543"/>
          </a:xfrm>
          <a:custGeom>
            <a:avLst/>
            <a:gdLst/>
            <a:ahLst/>
            <a:cxnLst/>
            <a:rect r="r" b="b" t="t" l="l"/>
            <a:pathLst>
              <a:path h="7987543" w="6019800">
                <a:moveTo>
                  <a:pt x="0" y="0"/>
                </a:moveTo>
                <a:lnTo>
                  <a:pt x="6019800" y="0"/>
                </a:lnTo>
                <a:lnTo>
                  <a:pt x="6019800" y="7987543"/>
                </a:lnTo>
                <a:lnTo>
                  <a:pt x="0" y="7987543"/>
                </a:lnTo>
                <a:lnTo>
                  <a:pt x="0" y="0"/>
                </a:lnTo>
                <a:close/>
              </a:path>
            </a:pathLst>
          </a:custGeom>
          <a:blipFill>
            <a:blip r:embed="rId6"/>
            <a:stretch>
              <a:fillRect l="-16343" t="0" r="-16343" b="0"/>
            </a:stretch>
          </a:blipFill>
        </p:spPr>
      </p:sp>
      <p:sp>
        <p:nvSpPr>
          <p:cNvPr name="TextBox 8" id="8"/>
          <p:cNvSpPr txBox="true"/>
          <p:nvPr/>
        </p:nvSpPr>
        <p:spPr>
          <a:xfrm rot="0">
            <a:off x="1557999" y="828992"/>
            <a:ext cx="2916319" cy="342299"/>
          </a:xfrm>
          <a:prstGeom prst="rect">
            <a:avLst/>
          </a:prstGeom>
        </p:spPr>
        <p:txBody>
          <a:bodyPr anchor="t" rtlCol="false" tIns="0" lIns="0" bIns="0" rIns="0">
            <a:spAutoFit/>
          </a:bodyPr>
          <a:lstStyle/>
          <a:p>
            <a:pPr algn="l" marL="0" indent="0" lvl="0">
              <a:lnSpc>
                <a:spcPts val="2658"/>
              </a:lnSpc>
            </a:pPr>
            <a:r>
              <a:rPr lang="en-US" b="true" sz="1898">
                <a:solidFill>
                  <a:srgbClr val="FFFFFF"/>
                </a:solidFill>
                <a:latin typeface="Poppins Bold"/>
                <a:ea typeface="Poppins Bold"/>
                <a:cs typeface="Poppins Bold"/>
                <a:sym typeface="Poppins Bold"/>
              </a:rPr>
              <a:t>Burger Builder</a:t>
            </a:r>
          </a:p>
        </p:txBody>
      </p:sp>
      <p:sp>
        <p:nvSpPr>
          <p:cNvPr name="TextBox 9" id="9"/>
          <p:cNvSpPr txBox="true"/>
          <p:nvPr/>
        </p:nvSpPr>
        <p:spPr>
          <a:xfrm rot="0">
            <a:off x="4686211" y="1928811"/>
            <a:ext cx="9248551" cy="693669"/>
          </a:xfrm>
          <a:prstGeom prst="rect">
            <a:avLst/>
          </a:prstGeom>
        </p:spPr>
        <p:txBody>
          <a:bodyPr anchor="t" rtlCol="false" tIns="0" lIns="0" bIns="0" rIns="0">
            <a:spAutoFit/>
          </a:bodyPr>
          <a:lstStyle/>
          <a:p>
            <a:pPr algn="l" marL="0" indent="0" lvl="0">
              <a:lnSpc>
                <a:spcPts val="5124"/>
              </a:lnSpc>
            </a:pPr>
            <a:r>
              <a:rPr lang="en-US" b="true" sz="4270">
                <a:solidFill>
                  <a:srgbClr val="65FFE8"/>
                </a:solidFill>
                <a:latin typeface="Poppins Bold"/>
                <a:ea typeface="Poppins Bold"/>
                <a:cs typeface="Poppins Bold"/>
                <a:sym typeface="Poppins Bold"/>
              </a:rPr>
              <a:t>SCALABILITY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209800" y="0"/>
            <a:ext cx="13430967" cy="10287000"/>
          </a:xfrm>
          <a:custGeom>
            <a:avLst/>
            <a:gdLst/>
            <a:ahLst/>
            <a:cxnLst/>
            <a:rect r="r" b="b" t="t" l="l"/>
            <a:pathLst>
              <a:path h="10287000" w="13430967">
                <a:moveTo>
                  <a:pt x="0" y="0"/>
                </a:moveTo>
                <a:lnTo>
                  <a:pt x="13430967" y="0"/>
                </a:lnTo>
                <a:lnTo>
                  <a:pt x="13430967" y="10287000"/>
                </a:lnTo>
                <a:lnTo>
                  <a:pt x="0" y="10287000"/>
                </a:lnTo>
                <a:lnTo>
                  <a:pt x="0" y="0"/>
                </a:lnTo>
                <a:close/>
              </a:path>
            </a:pathLst>
          </a:custGeom>
          <a:blipFill>
            <a:blip r:embed="rId2"/>
            <a:stretch>
              <a:fillRect l="0" t="0" r="-283"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019329" y="832204"/>
            <a:ext cx="450067" cy="376931"/>
          </a:xfrm>
          <a:custGeom>
            <a:avLst/>
            <a:gdLst/>
            <a:ahLst/>
            <a:cxnLst/>
            <a:rect r="r" b="b" t="t" l="l"/>
            <a:pathLst>
              <a:path h="376931" w="450067">
                <a:moveTo>
                  <a:pt x="0" y="0"/>
                </a:moveTo>
                <a:lnTo>
                  <a:pt x="450067" y="0"/>
                </a:lnTo>
                <a:lnTo>
                  <a:pt x="450067" y="376931"/>
                </a:lnTo>
                <a:lnTo>
                  <a:pt x="0" y="376931"/>
                </a:lnTo>
                <a:lnTo>
                  <a:pt x="0" y="0"/>
                </a:lnTo>
                <a:close/>
              </a:path>
            </a:pathLst>
          </a:custGeom>
          <a:blipFill>
            <a:blip r:embed="rId3"/>
            <a:stretch>
              <a:fillRect l="0" t="0" r="0" b="0"/>
            </a:stretch>
          </a:blipFill>
        </p:spPr>
      </p:sp>
      <p:sp>
        <p:nvSpPr>
          <p:cNvPr name="Freeform 4" id="4"/>
          <p:cNvSpPr/>
          <p:nvPr/>
        </p:nvSpPr>
        <p:spPr>
          <a:xfrm flipH="false" flipV="false" rot="0">
            <a:off x="14685170" y="-4486779"/>
            <a:ext cx="9639356" cy="8229600"/>
          </a:xfrm>
          <a:custGeom>
            <a:avLst/>
            <a:gdLst/>
            <a:ahLst/>
            <a:cxnLst/>
            <a:rect r="r" b="b" t="t" l="l"/>
            <a:pathLst>
              <a:path h="8229600" w="9639356">
                <a:moveTo>
                  <a:pt x="0" y="0"/>
                </a:moveTo>
                <a:lnTo>
                  <a:pt x="9639356" y="0"/>
                </a:lnTo>
                <a:lnTo>
                  <a:pt x="9639356" y="8229600"/>
                </a:lnTo>
                <a:lnTo>
                  <a:pt x="0" y="8229600"/>
                </a:lnTo>
                <a:lnTo>
                  <a:pt x="0" y="0"/>
                </a:lnTo>
                <a:close/>
              </a:path>
            </a:pathLst>
          </a:custGeom>
          <a:blipFill>
            <a:blip r:embed="rId4"/>
            <a:stretch>
              <a:fillRect l="0" t="0" r="0" b="0"/>
            </a:stretch>
          </a:blipFill>
        </p:spPr>
      </p:sp>
      <p:grpSp>
        <p:nvGrpSpPr>
          <p:cNvPr name="Group 5" id="5"/>
          <p:cNvGrpSpPr/>
          <p:nvPr/>
        </p:nvGrpSpPr>
        <p:grpSpPr>
          <a:xfrm rot="0">
            <a:off x="3580431" y="4083775"/>
            <a:ext cx="4218183" cy="1755199"/>
            <a:chOff x="0" y="0"/>
            <a:chExt cx="1093530" cy="455021"/>
          </a:xfrm>
        </p:grpSpPr>
        <p:sp>
          <p:nvSpPr>
            <p:cNvPr name="Freeform 6" id="6"/>
            <p:cNvSpPr/>
            <p:nvPr/>
          </p:nvSpPr>
          <p:spPr>
            <a:xfrm flipH="false" flipV="false" rot="0">
              <a:off x="0" y="0"/>
              <a:ext cx="1093530" cy="455021"/>
            </a:xfrm>
            <a:custGeom>
              <a:avLst/>
              <a:gdLst/>
              <a:ahLst/>
              <a:cxnLst/>
              <a:rect r="r" b="b" t="t" l="l"/>
              <a:pathLst>
                <a:path h="455021" w="1093530">
                  <a:moveTo>
                    <a:pt x="93604" y="0"/>
                  </a:moveTo>
                  <a:lnTo>
                    <a:pt x="999927" y="0"/>
                  </a:lnTo>
                  <a:cubicBezTo>
                    <a:pt x="1024752" y="0"/>
                    <a:pt x="1048560" y="9862"/>
                    <a:pt x="1066114" y="27416"/>
                  </a:cubicBezTo>
                  <a:cubicBezTo>
                    <a:pt x="1083669" y="44970"/>
                    <a:pt x="1093530" y="68779"/>
                    <a:pt x="1093530" y="93604"/>
                  </a:cubicBezTo>
                  <a:lnTo>
                    <a:pt x="1093530" y="361418"/>
                  </a:lnTo>
                  <a:cubicBezTo>
                    <a:pt x="1093530" y="386243"/>
                    <a:pt x="1083669" y="410051"/>
                    <a:pt x="1066114" y="427605"/>
                  </a:cubicBezTo>
                  <a:cubicBezTo>
                    <a:pt x="1048560" y="445160"/>
                    <a:pt x="1024752" y="455021"/>
                    <a:pt x="999927" y="455021"/>
                  </a:cubicBezTo>
                  <a:lnTo>
                    <a:pt x="93604" y="455021"/>
                  </a:lnTo>
                  <a:cubicBezTo>
                    <a:pt x="68779" y="455021"/>
                    <a:pt x="44970" y="445160"/>
                    <a:pt x="27416" y="427605"/>
                  </a:cubicBezTo>
                  <a:cubicBezTo>
                    <a:pt x="9862" y="410051"/>
                    <a:pt x="0" y="386243"/>
                    <a:pt x="0" y="361418"/>
                  </a:cubicBezTo>
                  <a:lnTo>
                    <a:pt x="0" y="93604"/>
                  </a:lnTo>
                  <a:cubicBezTo>
                    <a:pt x="0" y="68779"/>
                    <a:pt x="9862" y="44970"/>
                    <a:pt x="27416" y="27416"/>
                  </a:cubicBezTo>
                  <a:cubicBezTo>
                    <a:pt x="44970" y="9862"/>
                    <a:pt x="68779" y="0"/>
                    <a:pt x="93604" y="0"/>
                  </a:cubicBezTo>
                  <a:close/>
                </a:path>
              </a:pathLst>
            </a:custGeom>
            <a:gradFill rotWithShape="true">
              <a:gsLst>
                <a:gs pos="0">
                  <a:srgbClr val="0039E6">
                    <a:alpha val="78000"/>
                  </a:srgbClr>
                </a:gs>
                <a:gs pos="100000">
                  <a:srgbClr val="3CFFE2">
                    <a:alpha val="78000"/>
                  </a:srgbClr>
                </a:gs>
              </a:gsLst>
              <a:path path="circle">
                <a:fillToRect l="0" r="100000" t="0" b="100000"/>
              </a:path>
              <a:tileRect r="0" l="-100000" b="0" t="-100000"/>
            </a:gradFill>
            <a:ln cap="rnd">
              <a:noFill/>
              <a:prstDash val="solid"/>
              <a:round/>
            </a:ln>
          </p:spPr>
        </p:sp>
        <p:sp>
          <p:nvSpPr>
            <p:cNvPr name="TextBox 7" id="7"/>
            <p:cNvSpPr txBox="true"/>
            <p:nvPr/>
          </p:nvSpPr>
          <p:spPr>
            <a:xfrm>
              <a:off x="0" y="-66675"/>
              <a:ext cx="1093530" cy="521696"/>
            </a:xfrm>
            <a:prstGeom prst="rect">
              <a:avLst/>
            </a:prstGeom>
          </p:spPr>
          <p:txBody>
            <a:bodyPr anchor="ctr" rtlCol="false" tIns="50800" lIns="50800" bIns="50800" rIns="50800"/>
            <a:lstStyle/>
            <a:p>
              <a:pPr algn="ctr" marL="0" indent="0" lvl="0">
                <a:lnSpc>
                  <a:spcPts val="3151"/>
                </a:lnSpc>
              </a:pPr>
            </a:p>
          </p:txBody>
        </p:sp>
      </p:grpSp>
      <p:grpSp>
        <p:nvGrpSpPr>
          <p:cNvPr name="Group 8" id="8"/>
          <p:cNvGrpSpPr/>
          <p:nvPr/>
        </p:nvGrpSpPr>
        <p:grpSpPr>
          <a:xfrm rot="0">
            <a:off x="3580431" y="4847465"/>
            <a:ext cx="4218183" cy="1983019"/>
            <a:chOff x="0" y="0"/>
            <a:chExt cx="1093530" cy="514082"/>
          </a:xfrm>
        </p:grpSpPr>
        <p:sp>
          <p:nvSpPr>
            <p:cNvPr name="Freeform 9" id="9"/>
            <p:cNvSpPr/>
            <p:nvPr/>
          </p:nvSpPr>
          <p:spPr>
            <a:xfrm flipH="false" flipV="false" rot="0">
              <a:off x="0" y="0"/>
              <a:ext cx="1093530" cy="514082"/>
            </a:xfrm>
            <a:custGeom>
              <a:avLst/>
              <a:gdLst/>
              <a:ahLst/>
              <a:cxnLst/>
              <a:rect r="r" b="b" t="t" l="l"/>
              <a:pathLst>
                <a:path h="514082" w="1093530">
                  <a:moveTo>
                    <a:pt x="93604" y="0"/>
                  </a:moveTo>
                  <a:lnTo>
                    <a:pt x="999927" y="0"/>
                  </a:lnTo>
                  <a:cubicBezTo>
                    <a:pt x="1024752" y="0"/>
                    <a:pt x="1048560" y="9862"/>
                    <a:pt x="1066114" y="27416"/>
                  </a:cubicBezTo>
                  <a:cubicBezTo>
                    <a:pt x="1083669" y="44970"/>
                    <a:pt x="1093530" y="68779"/>
                    <a:pt x="1093530" y="93604"/>
                  </a:cubicBezTo>
                  <a:lnTo>
                    <a:pt x="1093530" y="420478"/>
                  </a:lnTo>
                  <a:cubicBezTo>
                    <a:pt x="1093530" y="445303"/>
                    <a:pt x="1083669" y="469112"/>
                    <a:pt x="1066114" y="486666"/>
                  </a:cubicBezTo>
                  <a:cubicBezTo>
                    <a:pt x="1048560" y="504220"/>
                    <a:pt x="1024752" y="514082"/>
                    <a:pt x="999927" y="514082"/>
                  </a:cubicBezTo>
                  <a:lnTo>
                    <a:pt x="93604" y="514082"/>
                  </a:lnTo>
                  <a:cubicBezTo>
                    <a:pt x="68779" y="514082"/>
                    <a:pt x="44970" y="504220"/>
                    <a:pt x="27416" y="486666"/>
                  </a:cubicBezTo>
                  <a:cubicBezTo>
                    <a:pt x="9862" y="469112"/>
                    <a:pt x="0" y="445303"/>
                    <a:pt x="0" y="420478"/>
                  </a:cubicBezTo>
                  <a:lnTo>
                    <a:pt x="0" y="93604"/>
                  </a:lnTo>
                  <a:cubicBezTo>
                    <a:pt x="0" y="68779"/>
                    <a:pt x="9862" y="44970"/>
                    <a:pt x="27416" y="27416"/>
                  </a:cubicBezTo>
                  <a:cubicBezTo>
                    <a:pt x="44970" y="9862"/>
                    <a:pt x="68779" y="0"/>
                    <a:pt x="93604" y="0"/>
                  </a:cubicBezTo>
                  <a:close/>
                </a:path>
              </a:pathLst>
            </a:custGeom>
            <a:solidFill>
              <a:srgbClr val="FFFFFF">
                <a:alpha val="62745"/>
              </a:srgbClr>
            </a:solidFill>
          </p:spPr>
        </p:sp>
        <p:sp>
          <p:nvSpPr>
            <p:cNvPr name="TextBox 10" id="10"/>
            <p:cNvSpPr txBox="true"/>
            <p:nvPr/>
          </p:nvSpPr>
          <p:spPr>
            <a:xfrm>
              <a:off x="0" y="-66675"/>
              <a:ext cx="1093530" cy="580757"/>
            </a:xfrm>
            <a:prstGeom prst="rect">
              <a:avLst/>
            </a:prstGeom>
          </p:spPr>
          <p:txBody>
            <a:bodyPr anchor="ctr" rtlCol="false" tIns="50800" lIns="50800" bIns="50800" rIns="50800"/>
            <a:lstStyle/>
            <a:p>
              <a:pPr algn="ctr" marL="0" indent="0" lvl="0">
                <a:lnSpc>
                  <a:spcPts val="3151"/>
                </a:lnSpc>
              </a:pPr>
            </a:p>
          </p:txBody>
        </p:sp>
      </p:grpSp>
      <p:grpSp>
        <p:nvGrpSpPr>
          <p:cNvPr name="Group 11" id="11"/>
          <p:cNvGrpSpPr/>
          <p:nvPr/>
        </p:nvGrpSpPr>
        <p:grpSpPr>
          <a:xfrm rot="0">
            <a:off x="3580431" y="7171438"/>
            <a:ext cx="4218183" cy="1755199"/>
            <a:chOff x="0" y="0"/>
            <a:chExt cx="1093530" cy="455021"/>
          </a:xfrm>
        </p:grpSpPr>
        <p:sp>
          <p:nvSpPr>
            <p:cNvPr name="Freeform 12" id="12"/>
            <p:cNvSpPr/>
            <p:nvPr/>
          </p:nvSpPr>
          <p:spPr>
            <a:xfrm flipH="false" flipV="false" rot="0">
              <a:off x="0" y="0"/>
              <a:ext cx="1093530" cy="455021"/>
            </a:xfrm>
            <a:custGeom>
              <a:avLst/>
              <a:gdLst/>
              <a:ahLst/>
              <a:cxnLst/>
              <a:rect r="r" b="b" t="t" l="l"/>
              <a:pathLst>
                <a:path h="455021" w="1093530">
                  <a:moveTo>
                    <a:pt x="93604" y="0"/>
                  </a:moveTo>
                  <a:lnTo>
                    <a:pt x="999927" y="0"/>
                  </a:lnTo>
                  <a:cubicBezTo>
                    <a:pt x="1024752" y="0"/>
                    <a:pt x="1048560" y="9862"/>
                    <a:pt x="1066114" y="27416"/>
                  </a:cubicBezTo>
                  <a:cubicBezTo>
                    <a:pt x="1083669" y="44970"/>
                    <a:pt x="1093530" y="68779"/>
                    <a:pt x="1093530" y="93604"/>
                  </a:cubicBezTo>
                  <a:lnTo>
                    <a:pt x="1093530" y="361418"/>
                  </a:lnTo>
                  <a:cubicBezTo>
                    <a:pt x="1093530" y="386243"/>
                    <a:pt x="1083669" y="410051"/>
                    <a:pt x="1066114" y="427605"/>
                  </a:cubicBezTo>
                  <a:cubicBezTo>
                    <a:pt x="1048560" y="445160"/>
                    <a:pt x="1024752" y="455021"/>
                    <a:pt x="999927" y="455021"/>
                  </a:cubicBezTo>
                  <a:lnTo>
                    <a:pt x="93604" y="455021"/>
                  </a:lnTo>
                  <a:cubicBezTo>
                    <a:pt x="68779" y="455021"/>
                    <a:pt x="44970" y="445160"/>
                    <a:pt x="27416" y="427605"/>
                  </a:cubicBezTo>
                  <a:cubicBezTo>
                    <a:pt x="9862" y="410051"/>
                    <a:pt x="0" y="386243"/>
                    <a:pt x="0" y="361418"/>
                  </a:cubicBezTo>
                  <a:lnTo>
                    <a:pt x="0" y="93604"/>
                  </a:lnTo>
                  <a:cubicBezTo>
                    <a:pt x="0" y="68779"/>
                    <a:pt x="9862" y="44970"/>
                    <a:pt x="27416" y="27416"/>
                  </a:cubicBezTo>
                  <a:cubicBezTo>
                    <a:pt x="44970" y="9862"/>
                    <a:pt x="68779" y="0"/>
                    <a:pt x="93604" y="0"/>
                  </a:cubicBezTo>
                  <a:close/>
                </a:path>
              </a:pathLst>
            </a:custGeom>
            <a:gradFill rotWithShape="true">
              <a:gsLst>
                <a:gs pos="0">
                  <a:srgbClr val="0039E6">
                    <a:alpha val="78000"/>
                  </a:srgbClr>
                </a:gs>
                <a:gs pos="100000">
                  <a:srgbClr val="3CFFE2">
                    <a:alpha val="78000"/>
                  </a:srgbClr>
                </a:gs>
              </a:gsLst>
              <a:path path="circle">
                <a:fillToRect l="0" r="100000" t="0" b="100000"/>
              </a:path>
              <a:tileRect r="0" l="-100000" b="0" t="-100000"/>
            </a:gradFill>
            <a:ln cap="rnd">
              <a:noFill/>
              <a:prstDash val="solid"/>
              <a:round/>
            </a:ln>
          </p:spPr>
        </p:sp>
        <p:sp>
          <p:nvSpPr>
            <p:cNvPr name="TextBox 13" id="13"/>
            <p:cNvSpPr txBox="true"/>
            <p:nvPr/>
          </p:nvSpPr>
          <p:spPr>
            <a:xfrm>
              <a:off x="0" y="-66675"/>
              <a:ext cx="1093530" cy="521696"/>
            </a:xfrm>
            <a:prstGeom prst="rect">
              <a:avLst/>
            </a:prstGeom>
          </p:spPr>
          <p:txBody>
            <a:bodyPr anchor="ctr" rtlCol="false" tIns="50800" lIns="50800" bIns="50800" rIns="50800"/>
            <a:lstStyle/>
            <a:p>
              <a:pPr algn="ctr" marL="0" indent="0" lvl="0">
                <a:lnSpc>
                  <a:spcPts val="3151"/>
                </a:lnSpc>
              </a:pPr>
            </a:p>
          </p:txBody>
        </p:sp>
      </p:grpSp>
      <p:grpSp>
        <p:nvGrpSpPr>
          <p:cNvPr name="Group 14" id="14"/>
          <p:cNvGrpSpPr/>
          <p:nvPr/>
        </p:nvGrpSpPr>
        <p:grpSpPr>
          <a:xfrm rot="0">
            <a:off x="3580431" y="7935127"/>
            <a:ext cx="4218183" cy="1983019"/>
            <a:chOff x="0" y="0"/>
            <a:chExt cx="1093530" cy="514082"/>
          </a:xfrm>
        </p:grpSpPr>
        <p:sp>
          <p:nvSpPr>
            <p:cNvPr name="Freeform 15" id="15"/>
            <p:cNvSpPr/>
            <p:nvPr/>
          </p:nvSpPr>
          <p:spPr>
            <a:xfrm flipH="false" flipV="false" rot="0">
              <a:off x="0" y="0"/>
              <a:ext cx="1093530" cy="514082"/>
            </a:xfrm>
            <a:custGeom>
              <a:avLst/>
              <a:gdLst/>
              <a:ahLst/>
              <a:cxnLst/>
              <a:rect r="r" b="b" t="t" l="l"/>
              <a:pathLst>
                <a:path h="514082" w="1093530">
                  <a:moveTo>
                    <a:pt x="93604" y="0"/>
                  </a:moveTo>
                  <a:lnTo>
                    <a:pt x="999927" y="0"/>
                  </a:lnTo>
                  <a:cubicBezTo>
                    <a:pt x="1024752" y="0"/>
                    <a:pt x="1048560" y="9862"/>
                    <a:pt x="1066114" y="27416"/>
                  </a:cubicBezTo>
                  <a:cubicBezTo>
                    <a:pt x="1083669" y="44970"/>
                    <a:pt x="1093530" y="68779"/>
                    <a:pt x="1093530" y="93604"/>
                  </a:cubicBezTo>
                  <a:lnTo>
                    <a:pt x="1093530" y="420478"/>
                  </a:lnTo>
                  <a:cubicBezTo>
                    <a:pt x="1093530" y="445303"/>
                    <a:pt x="1083669" y="469112"/>
                    <a:pt x="1066114" y="486666"/>
                  </a:cubicBezTo>
                  <a:cubicBezTo>
                    <a:pt x="1048560" y="504220"/>
                    <a:pt x="1024752" y="514082"/>
                    <a:pt x="999927" y="514082"/>
                  </a:cubicBezTo>
                  <a:lnTo>
                    <a:pt x="93604" y="514082"/>
                  </a:lnTo>
                  <a:cubicBezTo>
                    <a:pt x="68779" y="514082"/>
                    <a:pt x="44970" y="504220"/>
                    <a:pt x="27416" y="486666"/>
                  </a:cubicBezTo>
                  <a:cubicBezTo>
                    <a:pt x="9862" y="469112"/>
                    <a:pt x="0" y="445303"/>
                    <a:pt x="0" y="420478"/>
                  </a:cubicBezTo>
                  <a:lnTo>
                    <a:pt x="0" y="93604"/>
                  </a:lnTo>
                  <a:cubicBezTo>
                    <a:pt x="0" y="68779"/>
                    <a:pt x="9862" y="44970"/>
                    <a:pt x="27416" y="27416"/>
                  </a:cubicBezTo>
                  <a:cubicBezTo>
                    <a:pt x="44970" y="9862"/>
                    <a:pt x="68779" y="0"/>
                    <a:pt x="93604" y="0"/>
                  </a:cubicBezTo>
                  <a:close/>
                </a:path>
              </a:pathLst>
            </a:custGeom>
            <a:solidFill>
              <a:srgbClr val="FFFFFF">
                <a:alpha val="62745"/>
              </a:srgbClr>
            </a:solidFill>
          </p:spPr>
        </p:sp>
        <p:sp>
          <p:nvSpPr>
            <p:cNvPr name="TextBox 16" id="16"/>
            <p:cNvSpPr txBox="true"/>
            <p:nvPr/>
          </p:nvSpPr>
          <p:spPr>
            <a:xfrm>
              <a:off x="0" y="-66675"/>
              <a:ext cx="1093530" cy="580757"/>
            </a:xfrm>
            <a:prstGeom prst="rect">
              <a:avLst/>
            </a:prstGeom>
          </p:spPr>
          <p:txBody>
            <a:bodyPr anchor="ctr" rtlCol="false" tIns="50800" lIns="50800" bIns="50800" rIns="50800"/>
            <a:lstStyle/>
            <a:p>
              <a:pPr algn="ctr" marL="0" indent="0" lvl="0">
                <a:lnSpc>
                  <a:spcPts val="3151"/>
                </a:lnSpc>
              </a:pPr>
            </a:p>
          </p:txBody>
        </p:sp>
      </p:grpSp>
      <p:grpSp>
        <p:nvGrpSpPr>
          <p:cNvPr name="Group 17" id="17"/>
          <p:cNvGrpSpPr/>
          <p:nvPr/>
        </p:nvGrpSpPr>
        <p:grpSpPr>
          <a:xfrm rot="0">
            <a:off x="3580431" y="4847465"/>
            <a:ext cx="4218183" cy="1983019"/>
            <a:chOff x="0" y="0"/>
            <a:chExt cx="1093530" cy="514082"/>
          </a:xfrm>
        </p:grpSpPr>
        <p:sp>
          <p:nvSpPr>
            <p:cNvPr name="Freeform 18" id="18"/>
            <p:cNvSpPr/>
            <p:nvPr/>
          </p:nvSpPr>
          <p:spPr>
            <a:xfrm flipH="false" flipV="false" rot="0">
              <a:off x="0" y="0"/>
              <a:ext cx="1093530" cy="514082"/>
            </a:xfrm>
            <a:custGeom>
              <a:avLst/>
              <a:gdLst/>
              <a:ahLst/>
              <a:cxnLst/>
              <a:rect r="r" b="b" t="t" l="l"/>
              <a:pathLst>
                <a:path h="514082" w="1093530">
                  <a:moveTo>
                    <a:pt x="93604" y="0"/>
                  </a:moveTo>
                  <a:lnTo>
                    <a:pt x="999927" y="0"/>
                  </a:lnTo>
                  <a:cubicBezTo>
                    <a:pt x="1024752" y="0"/>
                    <a:pt x="1048560" y="9862"/>
                    <a:pt x="1066114" y="27416"/>
                  </a:cubicBezTo>
                  <a:cubicBezTo>
                    <a:pt x="1083669" y="44970"/>
                    <a:pt x="1093530" y="68779"/>
                    <a:pt x="1093530" y="93604"/>
                  </a:cubicBezTo>
                  <a:lnTo>
                    <a:pt x="1093530" y="420478"/>
                  </a:lnTo>
                  <a:cubicBezTo>
                    <a:pt x="1093530" y="445303"/>
                    <a:pt x="1083669" y="469112"/>
                    <a:pt x="1066114" y="486666"/>
                  </a:cubicBezTo>
                  <a:cubicBezTo>
                    <a:pt x="1048560" y="504220"/>
                    <a:pt x="1024752" y="514082"/>
                    <a:pt x="999927" y="514082"/>
                  </a:cubicBezTo>
                  <a:lnTo>
                    <a:pt x="93604" y="514082"/>
                  </a:lnTo>
                  <a:cubicBezTo>
                    <a:pt x="68779" y="514082"/>
                    <a:pt x="44970" y="504220"/>
                    <a:pt x="27416" y="486666"/>
                  </a:cubicBezTo>
                  <a:cubicBezTo>
                    <a:pt x="9862" y="469112"/>
                    <a:pt x="0" y="445303"/>
                    <a:pt x="0" y="420478"/>
                  </a:cubicBezTo>
                  <a:lnTo>
                    <a:pt x="0" y="93604"/>
                  </a:lnTo>
                  <a:cubicBezTo>
                    <a:pt x="0" y="68779"/>
                    <a:pt x="9862" y="44970"/>
                    <a:pt x="27416" y="27416"/>
                  </a:cubicBezTo>
                  <a:cubicBezTo>
                    <a:pt x="44970" y="9862"/>
                    <a:pt x="68779" y="0"/>
                    <a:pt x="93604" y="0"/>
                  </a:cubicBezTo>
                  <a:close/>
                </a:path>
              </a:pathLst>
            </a:custGeom>
            <a:ln w="38100" cap="rnd">
              <a:gradFill>
                <a:gsLst>
                  <a:gs pos="0">
                    <a:srgbClr val="0039E6">
                      <a:alpha val="100000"/>
                    </a:srgbClr>
                  </a:gs>
                  <a:gs pos="100000">
                    <a:srgbClr val="3CFFE2">
                      <a:alpha val="100000"/>
                    </a:srgbClr>
                  </a:gs>
                </a:gsLst>
                <a:path path="circle">
                  <a:fillToRect l="0" r="100000" t="0" b="100000"/>
                </a:path>
                <a:tileRect r="0" l="-100000" b="0" t="-100000"/>
              </a:gradFill>
              <a:prstDash val="solid"/>
              <a:round/>
            </a:ln>
          </p:spPr>
        </p:sp>
        <p:sp>
          <p:nvSpPr>
            <p:cNvPr name="TextBox 19" id="19"/>
            <p:cNvSpPr txBox="true"/>
            <p:nvPr/>
          </p:nvSpPr>
          <p:spPr>
            <a:xfrm>
              <a:off x="0" y="-66675"/>
              <a:ext cx="1093530" cy="580757"/>
            </a:xfrm>
            <a:prstGeom prst="rect">
              <a:avLst/>
            </a:prstGeom>
          </p:spPr>
          <p:txBody>
            <a:bodyPr anchor="ctr" rtlCol="false" tIns="50800" lIns="50800" bIns="50800" rIns="50800"/>
            <a:lstStyle/>
            <a:p>
              <a:pPr algn="ctr" marL="0" indent="0" lvl="0">
                <a:lnSpc>
                  <a:spcPts val="3151"/>
                </a:lnSpc>
              </a:pPr>
            </a:p>
          </p:txBody>
        </p:sp>
      </p:grpSp>
      <p:grpSp>
        <p:nvGrpSpPr>
          <p:cNvPr name="Group 20" id="20"/>
          <p:cNvGrpSpPr/>
          <p:nvPr/>
        </p:nvGrpSpPr>
        <p:grpSpPr>
          <a:xfrm rot="0">
            <a:off x="3580431" y="7935127"/>
            <a:ext cx="4218183" cy="1983019"/>
            <a:chOff x="0" y="0"/>
            <a:chExt cx="1093530" cy="514082"/>
          </a:xfrm>
        </p:grpSpPr>
        <p:sp>
          <p:nvSpPr>
            <p:cNvPr name="Freeform 21" id="21"/>
            <p:cNvSpPr/>
            <p:nvPr/>
          </p:nvSpPr>
          <p:spPr>
            <a:xfrm flipH="false" flipV="false" rot="0">
              <a:off x="0" y="0"/>
              <a:ext cx="1093530" cy="514082"/>
            </a:xfrm>
            <a:custGeom>
              <a:avLst/>
              <a:gdLst/>
              <a:ahLst/>
              <a:cxnLst/>
              <a:rect r="r" b="b" t="t" l="l"/>
              <a:pathLst>
                <a:path h="514082" w="1093530">
                  <a:moveTo>
                    <a:pt x="93604" y="0"/>
                  </a:moveTo>
                  <a:lnTo>
                    <a:pt x="999927" y="0"/>
                  </a:lnTo>
                  <a:cubicBezTo>
                    <a:pt x="1024752" y="0"/>
                    <a:pt x="1048560" y="9862"/>
                    <a:pt x="1066114" y="27416"/>
                  </a:cubicBezTo>
                  <a:cubicBezTo>
                    <a:pt x="1083669" y="44970"/>
                    <a:pt x="1093530" y="68779"/>
                    <a:pt x="1093530" y="93604"/>
                  </a:cubicBezTo>
                  <a:lnTo>
                    <a:pt x="1093530" y="420478"/>
                  </a:lnTo>
                  <a:cubicBezTo>
                    <a:pt x="1093530" y="445303"/>
                    <a:pt x="1083669" y="469112"/>
                    <a:pt x="1066114" y="486666"/>
                  </a:cubicBezTo>
                  <a:cubicBezTo>
                    <a:pt x="1048560" y="504220"/>
                    <a:pt x="1024752" y="514082"/>
                    <a:pt x="999927" y="514082"/>
                  </a:cubicBezTo>
                  <a:lnTo>
                    <a:pt x="93604" y="514082"/>
                  </a:lnTo>
                  <a:cubicBezTo>
                    <a:pt x="68779" y="514082"/>
                    <a:pt x="44970" y="504220"/>
                    <a:pt x="27416" y="486666"/>
                  </a:cubicBezTo>
                  <a:cubicBezTo>
                    <a:pt x="9862" y="469112"/>
                    <a:pt x="0" y="445303"/>
                    <a:pt x="0" y="420478"/>
                  </a:cubicBezTo>
                  <a:lnTo>
                    <a:pt x="0" y="93604"/>
                  </a:lnTo>
                  <a:cubicBezTo>
                    <a:pt x="0" y="68779"/>
                    <a:pt x="9862" y="44970"/>
                    <a:pt x="27416" y="27416"/>
                  </a:cubicBezTo>
                  <a:cubicBezTo>
                    <a:pt x="44970" y="9862"/>
                    <a:pt x="68779" y="0"/>
                    <a:pt x="93604" y="0"/>
                  </a:cubicBezTo>
                  <a:close/>
                </a:path>
              </a:pathLst>
            </a:custGeom>
            <a:ln w="38100" cap="rnd">
              <a:gradFill>
                <a:gsLst>
                  <a:gs pos="0">
                    <a:srgbClr val="0039E6">
                      <a:alpha val="100000"/>
                    </a:srgbClr>
                  </a:gs>
                  <a:gs pos="100000">
                    <a:srgbClr val="3CFFE2">
                      <a:alpha val="100000"/>
                    </a:srgbClr>
                  </a:gs>
                </a:gsLst>
                <a:path path="circle">
                  <a:fillToRect l="0" r="100000" t="0" b="100000"/>
                </a:path>
                <a:tileRect r="0" l="-100000" b="0" t="-100000"/>
              </a:gradFill>
              <a:prstDash val="solid"/>
              <a:round/>
            </a:ln>
          </p:spPr>
        </p:sp>
        <p:sp>
          <p:nvSpPr>
            <p:cNvPr name="TextBox 22" id="22"/>
            <p:cNvSpPr txBox="true"/>
            <p:nvPr/>
          </p:nvSpPr>
          <p:spPr>
            <a:xfrm>
              <a:off x="0" y="-66675"/>
              <a:ext cx="1093530" cy="580757"/>
            </a:xfrm>
            <a:prstGeom prst="rect">
              <a:avLst/>
            </a:prstGeom>
          </p:spPr>
          <p:txBody>
            <a:bodyPr anchor="ctr" rtlCol="false" tIns="50800" lIns="50800" bIns="50800" rIns="50800"/>
            <a:lstStyle/>
            <a:p>
              <a:pPr algn="ctr" marL="0" indent="0" lvl="0">
                <a:lnSpc>
                  <a:spcPts val="3151"/>
                </a:lnSpc>
              </a:pPr>
            </a:p>
          </p:txBody>
        </p:sp>
      </p:grpSp>
      <p:sp>
        <p:nvSpPr>
          <p:cNvPr name="TextBox 23" id="23"/>
          <p:cNvSpPr txBox="true"/>
          <p:nvPr/>
        </p:nvSpPr>
        <p:spPr>
          <a:xfrm rot="0">
            <a:off x="1557999" y="838517"/>
            <a:ext cx="2916319" cy="259427"/>
          </a:xfrm>
          <a:prstGeom prst="rect">
            <a:avLst/>
          </a:prstGeom>
        </p:spPr>
        <p:txBody>
          <a:bodyPr anchor="t" rtlCol="false" tIns="0" lIns="0" bIns="0" rIns="0">
            <a:spAutoFit/>
          </a:bodyPr>
          <a:lstStyle/>
          <a:p>
            <a:pPr algn="l" marL="0" indent="0" lvl="0">
              <a:lnSpc>
                <a:spcPts val="1975"/>
              </a:lnSpc>
            </a:pPr>
            <a:r>
              <a:rPr lang="en-US" b="true" sz="1411">
                <a:solidFill>
                  <a:srgbClr val="FFFFFF"/>
                </a:solidFill>
                <a:latin typeface="Poppins Bold"/>
                <a:ea typeface="Poppins Bold"/>
                <a:cs typeface="Poppins Bold"/>
                <a:sym typeface="Poppins Bold"/>
              </a:rPr>
              <a:t>Burger Builder</a:t>
            </a:r>
          </a:p>
        </p:txBody>
      </p:sp>
      <p:sp>
        <p:nvSpPr>
          <p:cNvPr name="TextBox 24" id="24"/>
          <p:cNvSpPr txBox="true"/>
          <p:nvPr/>
        </p:nvSpPr>
        <p:spPr>
          <a:xfrm rot="0">
            <a:off x="4186061" y="1738390"/>
            <a:ext cx="9540668" cy="952691"/>
          </a:xfrm>
          <a:prstGeom prst="rect">
            <a:avLst/>
          </a:prstGeom>
        </p:spPr>
        <p:txBody>
          <a:bodyPr anchor="t" rtlCol="false" tIns="0" lIns="0" bIns="0" rIns="0">
            <a:spAutoFit/>
          </a:bodyPr>
          <a:lstStyle/>
          <a:p>
            <a:pPr algn="ctr" marL="0" indent="0" lvl="0">
              <a:lnSpc>
                <a:spcPts val="7115"/>
              </a:lnSpc>
            </a:pPr>
            <a:r>
              <a:rPr lang="en-US" b="true" sz="5929">
                <a:solidFill>
                  <a:srgbClr val="FFFFFF"/>
                </a:solidFill>
                <a:latin typeface="Poppins Bold"/>
                <a:ea typeface="Poppins Bold"/>
                <a:cs typeface="Poppins Bold"/>
                <a:sym typeface="Poppins Bold"/>
              </a:rPr>
              <a:t>SECURITY ARCHITECTURE</a:t>
            </a:r>
          </a:p>
        </p:txBody>
      </p:sp>
      <p:sp>
        <p:nvSpPr>
          <p:cNvPr name="TextBox 25" id="25"/>
          <p:cNvSpPr txBox="true"/>
          <p:nvPr/>
        </p:nvSpPr>
        <p:spPr>
          <a:xfrm rot="0">
            <a:off x="4186061" y="2790130"/>
            <a:ext cx="9540668" cy="952691"/>
          </a:xfrm>
          <a:prstGeom prst="rect">
            <a:avLst/>
          </a:prstGeom>
        </p:spPr>
        <p:txBody>
          <a:bodyPr anchor="t" rtlCol="false" tIns="0" lIns="0" bIns="0" rIns="0">
            <a:spAutoFit/>
          </a:bodyPr>
          <a:lstStyle/>
          <a:p>
            <a:pPr algn="ctr" marL="0" indent="0" lvl="0">
              <a:lnSpc>
                <a:spcPts val="7115"/>
              </a:lnSpc>
            </a:pPr>
            <a:r>
              <a:rPr lang="en-US" b="true" sz="5929">
                <a:solidFill>
                  <a:srgbClr val="65FFE8"/>
                </a:solidFill>
                <a:latin typeface="Poppins Bold"/>
                <a:ea typeface="Poppins Bold"/>
                <a:cs typeface="Poppins Bold"/>
                <a:sym typeface="Poppins Bold"/>
              </a:rPr>
              <a:t>OVERVIEW</a:t>
            </a:r>
          </a:p>
        </p:txBody>
      </p:sp>
      <p:sp>
        <p:nvSpPr>
          <p:cNvPr name="TextBox 26" id="26"/>
          <p:cNvSpPr txBox="true"/>
          <p:nvPr/>
        </p:nvSpPr>
        <p:spPr>
          <a:xfrm rot="0">
            <a:off x="3961117" y="5201232"/>
            <a:ext cx="3456811" cy="914017"/>
          </a:xfrm>
          <a:prstGeom prst="rect">
            <a:avLst/>
          </a:prstGeom>
        </p:spPr>
        <p:txBody>
          <a:bodyPr anchor="t" rtlCol="false" tIns="0" lIns="0" bIns="0" rIns="0">
            <a:spAutoFit/>
          </a:bodyPr>
          <a:lstStyle/>
          <a:p>
            <a:pPr algn="ctr" marL="0" indent="0" lvl="0">
              <a:lnSpc>
                <a:spcPts val="2378"/>
              </a:lnSpc>
              <a:spcBef>
                <a:spcPct val="0"/>
              </a:spcBef>
            </a:pPr>
            <a:r>
              <a:rPr lang="en-US" sz="1698">
                <a:solidFill>
                  <a:srgbClr val="3562AF"/>
                </a:solidFill>
                <a:latin typeface="Poppins"/>
                <a:ea typeface="Poppins"/>
                <a:cs typeface="Poppins"/>
                <a:sym typeface="Poppins"/>
              </a:rPr>
              <a:t>Azure App Gateway WAF v2 with OWASP protection rules and SSL/TLS encryption via Certbot.</a:t>
            </a:r>
          </a:p>
        </p:txBody>
      </p:sp>
      <p:sp>
        <p:nvSpPr>
          <p:cNvPr name="TextBox 27" id="27"/>
          <p:cNvSpPr txBox="true"/>
          <p:nvPr/>
        </p:nvSpPr>
        <p:spPr>
          <a:xfrm rot="0">
            <a:off x="3961117" y="8288894"/>
            <a:ext cx="3456811" cy="913941"/>
          </a:xfrm>
          <a:prstGeom prst="rect">
            <a:avLst/>
          </a:prstGeom>
        </p:spPr>
        <p:txBody>
          <a:bodyPr anchor="t" rtlCol="false" tIns="0" lIns="0" bIns="0" rIns="0">
            <a:spAutoFit/>
          </a:bodyPr>
          <a:lstStyle/>
          <a:p>
            <a:pPr algn="ctr" marL="0" indent="0" lvl="0">
              <a:lnSpc>
                <a:spcPts val="2378"/>
              </a:lnSpc>
              <a:spcBef>
                <a:spcPct val="0"/>
              </a:spcBef>
            </a:pPr>
            <a:r>
              <a:rPr lang="en-US" sz="1698">
                <a:solidFill>
                  <a:srgbClr val="3562AF"/>
                </a:solidFill>
                <a:latin typeface="Poppins"/>
                <a:ea typeface="Poppins"/>
                <a:cs typeface="Poppins"/>
                <a:sym typeface="Poppins"/>
              </a:rPr>
              <a:t>Wazuh SIEM for intrusion detection, log analysis, and real-time threat alerting.</a:t>
            </a:r>
          </a:p>
        </p:txBody>
      </p:sp>
      <p:sp>
        <p:nvSpPr>
          <p:cNvPr name="TextBox 28" id="28"/>
          <p:cNvSpPr txBox="true"/>
          <p:nvPr/>
        </p:nvSpPr>
        <p:spPr>
          <a:xfrm rot="0">
            <a:off x="3699176" y="4327843"/>
            <a:ext cx="3980694" cy="338335"/>
          </a:xfrm>
          <a:prstGeom prst="rect">
            <a:avLst/>
          </a:prstGeom>
        </p:spPr>
        <p:txBody>
          <a:bodyPr anchor="t" rtlCol="false" tIns="0" lIns="0" bIns="0" rIns="0">
            <a:spAutoFit/>
          </a:bodyPr>
          <a:lstStyle/>
          <a:p>
            <a:pPr algn="ctr" marL="0" indent="0" lvl="0">
              <a:lnSpc>
                <a:spcPts val="2558"/>
              </a:lnSpc>
            </a:pPr>
            <a:r>
              <a:rPr lang="en-US" b="true" sz="2131">
                <a:solidFill>
                  <a:srgbClr val="FFFFFF"/>
                </a:solidFill>
                <a:latin typeface="Poppins Bold"/>
                <a:ea typeface="Poppins Bold"/>
                <a:cs typeface="Poppins Bold"/>
                <a:sym typeface="Poppins Bold"/>
              </a:rPr>
              <a:t>WAF INTEGRATED APP GW</a:t>
            </a:r>
          </a:p>
        </p:txBody>
      </p:sp>
      <p:sp>
        <p:nvSpPr>
          <p:cNvPr name="TextBox 29" id="29"/>
          <p:cNvSpPr txBox="true"/>
          <p:nvPr/>
        </p:nvSpPr>
        <p:spPr>
          <a:xfrm rot="0">
            <a:off x="3699176" y="7415505"/>
            <a:ext cx="3980694" cy="338385"/>
          </a:xfrm>
          <a:prstGeom prst="rect">
            <a:avLst/>
          </a:prstGeom>
        </p:spPr>
        <p:txBody>
          <a:bodyPr anchor="t" rtlCol="false" tIns="0" lIns="0" bIns="0" rIns="0">
            <a:spAutoFit/>
          </a:bodyPr>
          <a:lstStyle/>
          <a:p>
            <a:pPr algn="ctr" marL="0" indent="0" lvl="0">
              <a:lnSpc>
                <a:spcPts val="2558"/>
              </a:lnSpc>
            </a:pPr>
            <a:r>
              <a:rPr lang="en-US" b="true" sz="2131">
                <a:solidFill>
                  <a:srgbClr val="FFFFFF"/>
                </a:solidFill>
                <a:latin typeface="Poppins Bold"/>
                <a:ea typeface="Poppins Bold"/>
                <a:cs typeface="Poppins Bold"/>
                <a:sym typeface="Poppins Bold"/>
              </a:rPr>
              <a:t>WAZUH SIEM</a:t>
            </a:r>
          </a:p>
        </p:txBody>
      </p:sp>
      <p:grpSp>
        <p:nvGrpSpPr>
          <p:cNvPr name="Group 30" id="30"/>
          <p:cNvGrpSpPr/>
          <p:nvPr/>
        </p:nvGrpSpPr>
        <p:grpSpPr>
          <a:xfrm rot="0">
            <a:off x="10054634" y="4083775"/>
            <a:ext cx="4218183" cy="1755199"/>
            <a:chOff x="0" y="0"/>
            <a:chExt cx="1093530" cy="455021"/>
          </a:xfrm>
        </p:grpSpPr>
        <p:sp>
          <p:nvSpPr>
            <p:cNvPr name="Freeform 31" id="31"/>
            <p:cNvSpPr/>
            <p:nvPr/>
          </p:nvSpPr>
          <p:spPr>
            <a:xfrm flipH="false" flipV="false" rot="0">
              <a:off x="0" y="0"/>
              <a:ext cx="1093530" cy="455021"/>
            </a:xfrm>
            <a:custGeom>
              <a:avLst/>
              <a:gdLst/>
              <a:ahLst/>
              <a:cxnLst/>
              <a:rect r="r" b="b" t="t" l="l"/>
              <a:pathLst>
                <a:path h="455021" w="1093530">
                  <a:moveTo>
                    <a:pt x="93604" y="0"/>
                  </a:moveTo>
                  <a:lnTo>
                    <a:pt x="999927" y="0"/>
                  </a:lnTo>
                  <a:cubicBezTo>
                    <a:pt x="1024752" y="0"/>
                    <a:pt x="1048560" y="9862"/>
                    <a:pt x="1066114" y="27416"/>
                  </a:cubicBezTo>
                  <a:cubicBezTo>
                    <a:pt x="1083669" y="44970"/>
                    <a:pt x="1093530" y="68779"/>
                    <a:pt x="1093530" y="93604"/>
                  </a:cubicBezTo>
                  <a:lnTo>
                    <a:pt x="1093530" y="361418"/>
                  </a:lnTo>
                  <a:cubicBezTo>
                    <a:pt x="1093530" y="386243"/>
                    <a:pt x="1083669" y="410051"/>
                    <a:pt x="1066114" y="427605"/>
                  </a:cubicBezTo>
                  <a:cubicBezTo>
                    <a:pt x="1048560" y="445160"/>
                    <a:pt x="1024752" y="455021"/>
                    <a:pt x="999927" y="455021"/>
                  </a:cubicBezTo>
                  <a:lnTo>
                    <a:pt x="93604" y="455021"/>
                  </a:lnTo>
                  <a:cubicBezTo>
                    <a:pt x="68779" y="455021"/>
                    <a:pt x="44970" y="445160"/>
                    <a:pt x="27416" y="427605"/>
                  </a:cubicBezTo>
                  <a:cubicBezTo>
                    <a:pt x="9862" y="410051"/>
                    <a:pt x="0" y="386243"/>
                    <a:pt x="0" y="361418"/>
                  </a:cubicBezTo>
                  <a:lnTo>
                    <a:pt x="0" y="93604"/>
                  </a:lnTo>
                  <a:cubicBezTo>
                    <a:pt x="0" y="68779"/>
                    <a:pt x="9862" y="44970"/>
                    <a:pt x="27416" y="27416"/>
                  </a:cubicBezTo>
                  <a:cubicBezTo>
                    <a:pt x="44970" y="9862"/>
                    <a:pt x="68779" y="0"/>
                    <a:pt x="93604" y="0"/>
                  </a:cubicBezTo>
                  <a:close/>
                </a:path>
              </a:pathLst>
            </a:custGeom>
            <a:gradFill rotWithShape="true">
              <a:gsLst>
                <a:gs pos="0">
                  <a:srgbClr val="0039E6">
                    <a:alpha val="78000"/>
                  </a:srgbClr>
                </a:gs>
                <a:gs pos="100000">
                  <a:srgbClr val="3CFFE2">
                    <a:alpha val="78000"/>
                  </a:srgbClr>
                </a:gs>
              </a:gsLst>
              <a:path path="circle">
                <a:fillToRect l="0" r="100000" t="0" b="100000"/>
              </a:path>
              <a:tileRect r="0" l="-100000" b="0" t="-100000"/>
            </a:gradFill>
            <a:ln cap="rnd">
              <a:noFill/>
              <a:prstDash val="solid"/>
              <a:round/>
            </a:ln>
          </p:spPr>
        </p:sp>
        <p:sp>
          <p:nvSpPr>
            <p:cNvPr name="TextBox 32" id="32"/>
            <p:cNvSpPr txBox="true"/>
            <p:nvPr/>
          </p:nvSpPr>
          <p:spPr>
            <a:xfrm>
              <a:off x="0" y="-66675"/>
              <a:ext cx="1093530" cy="521696"/>
            </a:xfrm>
            <a:prstGeom prst="rect">
              <a:avLst/>
            </a:prstGeom>
          </p:spPr>
          <p:txBody>
            <a:bodyPr anchor="ctr" rtlCol="false" tIns="50800" lIns="50800" bIns="50800" rIns="50800"/>
            <a:lstStyle/>
            <a:p>
              <a:pPr algn="ctr" marL="0" indent="0" lvl="0">
                <a:lnSpc>
                  <a:spcPts val="3151"/>
                </a:lnSpc>
              </a:pPr>
            </a:p>
          </p:txBody>
        </p:sp>
      </p:grpSp>
      <p:grpSp>
        <p:nvGrpSpPr>
          <p:cNvPr name="Group 33" id="33"/>
          <p:cNvGrpSpPr/>
          <p:nvPr/>
        </p:nvGrpSpPr>
        <p:grpSpPr>
          <a:xfrm rot="0">
            <a:off x="10054634" y="4847465"/>
            <a:ext cx="4218183" cy="1983019"/>
            <a:chOff x="0" y="0"/>
            <a:chExt cx="1093530" cy="514082"/>
          </a:xfrm>
        </p:grpSpPr>
        <p:sp>
          <p:nvSpPr>
            <p:cNvPr name="Freeform 34" id="34"/>
            <p:cNvSpPr/>
            <p:nvPr/>
          </p:nvSpPr>
          <p:spPr>
            <a:xfrm flipH="false" flipV="false" rot="0">
              <a:off x="0" y="0"/>
              <a:ext cx="1093530" cy="514082"/>
            </a:xfrm>
            <a:custGeom>
              <a:avLst/>
              <a:gdLst/>
              <a:ahLst/>
              <a:cxnLst/>
              <a:rect r="r" b="b" t="t" l="l"/>
              <a:pathLst>
                <a:path h="514082" w="1093530">
                  <a:moveTo>
                    <a:pt x="93604" y="0"/>
                  </a:moveTo>
                  <a:lnTo>
                    <a:pt x="999927" y="0"/>
                  </a:lnTo>
                  <a:cubicBezTo>
                    <a:pt x="1024752" y="0"/>
                    <a:pt x="1048560" y="9862"/>
                    <a:pt x="1066114" y="27416"/>
                  </a:cubicBezTo>
                  <a:cubicBezTo>
                    <a:pt x="1083669" y="44970"/>
                    <a:pt x="1093530" y="68779"/>
                    <a:pt x="1093530" y="93604"/>
                  </a:cubicBezTo>
                  <a:lnTo>
                    <a:pt x="1093530" y="420478"/>
                  </a:lnTo>
                  <a:cubicBezTo>
                    <a:pt x="1093530" y="445303"/>
                    <a:pt x="1083669" y="469112"/>
                    <a:pt x="1066114" y="486666"/>
                  </a:cubicBezTo>
                  <a:cubicBezTo>
                    <a:pt x="1048560" y="504220"/>
                    <a:pt x="1024752" y="514082"/>
                    <a:pt x="999927" y="514082"/>
                  </a:cubicBezTo>
                  <a:lnTo>
                    <a:pt x="93604" y="514082"/>
                  </a:lnTo>
                  <a:cubicBezTo>
                    <a:pt x="68779" y="514082"/>
                    <a:pt x="44970" y="504220"/>
                    <a:pt x="27416" y="486666"/>
                  </a:cubicBezTo>
                  <a:cubicBezTo>
                    <a:pt x="9862" y="469112"/>
                    <a:pt x="0" y="445303"/>
                    <a:pt x="0" y="420478"/>
                  </a:cubicBezTo>
                  <a:lnTo>
                    <a:pt x="0" y="93604"/>
                  </a:lnTo>
                  <a:cubicBezTo>
                    <a:pt x="0" y="68779"/>
                    <a:pt x="9862" y="44970"/>
                    <a:pt x="27416" y="27416"/>
                  </a:cubicBezTo>
                  <a:cubicBezTo>
                    <a:pt x="44970" y="9862"/>
                    <a:pt x="68779" y="0"/>
                    <a:pt x="93604" y="0"/>
                  </a:cubicBezTo>
                  <a:close/>
                </a:path>
              </a:pathLst>
            </a:custGeom>
            <a:solidFill>
              <a:srgbClr val="FFFFFF">
                <a:alpha val="62745"/>
              </a:srgbClr>
            </a:solidFill>
          </p:spPr>
        </p:sp>
        <p:sp>
          <p:nvSpPr>
            <p:cNvPr name="TextBox 35" id="35"/>
            <p:cNvSpPr txBox="true"/>
            <p:nvPr/>
          </p:nvSpPr>
          <p:spPr>
            <a:xfrm>
              <a:off x="0" y="-66675"/>
              <a:ext cx="1093530" cy="580757"/>
            </a:xfrm>
            <a:prstGeom prst="rect">
              <a:avLst/>
            </a:prstGeom>
          </p:spPr>
          <p:txBody>
            <a:bodyPr anchor="ctr" rtlCol="false" tIns="50800" lIns="50800" bIns="50800" rIns="50800"/>
            <a:lstStyle/>
            <a:p>
              <a:pPr algn="ctr" marL="0" indent="0" lvl="0">
                <a:lnSpc>
                  <a:spcPts val="3151"/>
                </a:lnSpc>
              </a:pPr>
            </a:p>
          </p:txBody>
        </p:sp>
      </p:grpSp>
      <p:grpSp>
        <p:nvGrpSpPr>
          <p:cNvPr name="Group 36" id="36"/>
          <p:cNvGrpSpPr/>
          <p:nvPr/>
        </p:nvGrpSpPr>
        <p:grpSpPr>
          <a:xfrm rot="0">
            <a:off x="10054634" y="4847465"/>
            <a:ext cx="4218183" cy="1983019"/>
            <a:chOff x="0" y="0"/>
            <a:chExt cx="1093530" cy="514082"/>
          </a:xfrm>
        </p:grpSpPr>
        <p:sp>
          <p:nvSpPr>
            <p:cNvPr name="Freeform 37" id="37"/>
            <p:cNvSpPr/>
            <p:nvPr/>
          </p:nvSpPr>
          <p:spPr>
            <a:xfrm flipH="false" flipV="false" rot="0">
              <a:off x="0" y="0"/>
              <a:ext cx="1093530" cy="514082"/>
            </a:xfrm>
            <a:custGeom>
              <a:avLst/>
              <a:gdLst/>
              <a:ahLst/>
              <a:cxnLst/>
              <a:rect r="r" b="b" t="t" l="l"/>
              <a:pathLst>
                <a:path h="514082" w="1093530">
                  <a:moveTo>
                    <a:pt x="93604" y="0"/>
                  </a:moveTo>
                  <a:lnTo>
                    <a:pt x="999927" y="0"/>
                  </a:lnTo>
                  <a:cubicBezTo>
                    <a:pt x="1024752" y="0"/>
                    <a:pt x="1048560" y="9862"/>
                    <a:pt x="1066114" y="27416"/>
                  </a:cubicBezTo>
                  <a:cubicBezTo>
                    <a:pt x="1083669" y="44970"/>
                    <a:pt x="1093530" y="68779"/>
                    <a:pt x="1093530" y="93604"/>
                  </a:cubicBezTo>
                  <a:lnTo>
                    <a:pt x="1093530" y="420478"/>
                  </a:lnTo>
                  <a:cubicBezTo>
                    <a:pt x="1093530" y="445303"/>
                    <a:pt x="1083669" y="469112"/>
                    <a:pt x="1066114" y="486666"/>
                  </a:cubicBezTo>
                  <a:cubicBezTo>
                    <a:pt x="1048560" y="504220"/>
                    <a:pt x="1024752" y="514082"/>
                    <a:pt x="999927" y="514082"/>
                  </a:cubicBezTo>
                  <a:lnTo>
                    <a:pt x="93604" y="514082"/>
                  </a:lnTo>
                  <a:cubicBezTo>
                    <a:pt x="68779" y="514082"/>
                    <a:pt x="44970" y="504220"/>
                    <a:pt x="27416" y="486666"/>
                  </a:cubicBezTo>
                  <a:cubicBezTo>
                    <a:pt x="9862" y="469112"/>
                    <a:pt x="0" y="445303"/>
                    <a:pt x="0" y="420478"/>
                  </a:cubicBezTo>
                  <a:lnTo>
                    <a:pt x="0" y="93604"/>
                  </a:lnTo>
                  <a:cubicBezTo>
                    <a:pt x="0" y="68779"/>
                    <a:pt x="9862" y="44970"/>
                    <a:pt x="27416" y="27416"/>
                  </a:cubicBezTo>
                  <a:cubicBezTo>
                    <a:pt x="44970" y="9862"/>
                    <a:pt x="68779" y="0"/>
                    <a:pt x="93604" y="0"/>
                  </a:cubicBezTo>
                  <a:close/>
                </a:path>
              </a:pathLst>
            </a:custGeom>
            <a:ln w="38100" cap="rnd">
              <a:gradFill>
                <a:gsLst>
                  <a:gs pos="0">
                    <a:srgbClr val="0039E6">
                      <a:alpha val="100000"/>
                    </a:srgbClr>
                  </a:gs>
                  <a:gs pos="100000">
                    <a:srgbClr val="3CFFE2">
                      <a:alpha val="100000"/>
                    </a:srgbClr>
                  </a:gs>
                </a:gsLst>
                <a:path path="circle">
                  <a:fillToRect l="0" r="100000" t="0" b="100000"/>
                </a:path>
                <a:tileRect r="0" l="-100000" b="0" t="-100000"/>
              </a:gradFill>
              <a:prstDash val="solid"/>
              <a:round/>
            </a:ln>
          </p:spPr>
        </p:sp>
        <p:sp>
          <p:nvSpPr>
            <p:cNvPr name="TextBox 38" id="38"/>
            <p:cNvSpPr txBox="true"/>
            <p:nvPr/>
          </p:nvSpPr>
          <p:spPr>
            <a:xfrm>
              <a:off x="0" y="-66675"/>
              <a:ext cx="1093530" cy="580757"/>
            </a:xfrm>
            <a:prstGeom prst="rect">
              <a:avLst/>
            </a:prstGeom>
          </p:spPr>
          <p:txBody>
            <a:bodyPr anchor="ctr" rtlCol="false" tIns="50800" lIns="50800" bIns="50800" rIns="50800"/>
            <a:lstStyle/>
            <a:p>
              <a:pPr algn="ctr" marL="0" indent="0" lvl="0">
                <a:lnSpc>
                  <a:spcPts val="3151"/>
                </a:lnSpc>
              </a:pPr>
            </a:p>
          </p:txBody>
        </p:sp>
      </p:grpSp>
      <p:sp>
        <p:nvSpPr>
          <p:cNvPr name="TextBox 39" id="39"/>
          <p:cNvSpPr txBox="true"/>
          <p:nvPr/>
        </p:nvSpPr>
        <p:spPr>
          <a:xfrm rot="0">
            <a:off x="10435320" y="5201232"/>
            <a:ext cx="3456811" cy="1214024"/>
          </a:xfrm>
          <a:prstGeom prst="rect">
            <a:avLst/>
          </a:prstGeom>
        </p:spPr>
        <p:txBody>
          <a:bodyPr anchor="t" rtlCol="false" tIns="0" lIns="0" bIns="0" rIns="0">
            <a:spAutoFit/>
          </a:bodyPr>
          <a:lstStyle/>
          <a:p>
            <a:pPr algn="ctr" marL="0" indent="0" lvl="0">
              <a:lnSpc>
                <a:spcPts val="2378"/>
              </a:lnSpc>
              <a:spcBef>
                <a:spcPct val="0"/>
              </a:spcBef>
            </a:pPr>
            <a:r>
              <a:rPr lang="en-US" sz="1698">
                <a:solidFill>
                  <a:srgbClr val="3562AF"/>
                </a:solidFill>
                <a:latin typeface="Poppins"/>
                <a:ea typeface="Poppins"/>
                <a:cs typeface="Poppins"/>
                <a:sym typeface="Poppins"/>
              </a:rPr>
              <a:t>All the credentials stored in Azure key vault which makes them more secure and manageable</a:t>
            </a:r>
          </a:p>
        </p:txBody>
      </p:sp>
      <p:sp>
        <p:nvSpPr>
          <p:cNvPr name="TextBox 40" id="40"/>
          <p:cNvSpPr txBox="true"/>
          <p:nvPr/>
        </p:nvSpPr>
        <p:spPr>
          <a:xfrm rot="0">
            <a:off x="10173378" y="4327843"/>
            <a:ext cx="3980694" cy="338335"/>
          </a:xfrm>
          <a:prstGeom prst="rect">
            <a:avLst/>
          </a:prstGeom>
        </p:spPr>
        <p:txBody>
          <a:bodyPr anchor="t" rtlCol="false" tIns="0" lIns="0" bIns="0" rIns="0">
            <a:spAutoFit/>
          </a:bodyPr>
          <a:lstStyle/>
          <a:p>
            <a:pPr algn="ctr" marL="0" indent="0" lvl="0">
              <a:lnSpc>
                <a:spcPts val="2558"/>
              </a:lnSpc>
            </a:pPr>
            <a:r>
              <a:rPr lang="en-US" b="true" sz="2131">
                <a:solidFill>
                  <a:srgbClr val="FFFFFF"/>
                </a:solidFill>
                <a:latin typeface="Poppins Bold"/>
                <a:ea typeface="Poppins Bold"/>
                <a:cs typeface="Poppins Bold"/>
                <a:sym typeface="Poppins Bold"/>
              </a:rPr>
              <a:t>CREDENTIAL SECURITY</a:t>
            </a:r>
          </a:p>
        </p:txBody>
      </p:sp>
      <p:grpSp>
        <p:nvGrpSpPr>
          <p:cNvPr name="Group 41" id="41"/>
          <p:cNvGrpSpPr/>
          <p:nvPr/>
        </p:nvGrpSpPr>
        <p:grpSpPr>
          <a:xfrm rot="0">
            <a:off x="10054634" y="7171438"/>
            <a:ext cx="4218183" cy="1755199"/>
            <a:chOff x="0" y="0"/>
            <a:chExt cx="1093530" cy="455021"/>
          </a:xfrm>
        </p:grpSpPr>
        <p:sp>
          <p:nvSpPr>
            <p:cNvPr name="Freeform 42" id="42"/>
            <p:cNvSpPr/>
            <p:nvPr/>
          </p:nvSpPr>
          <p:spPr>
            <a:xfrm flipH="false" flipV="false" rot="0">
              <a:off x="0" y="0"/>
              <a:ext cx="1093530" cy="455021"/>
            </a:xfrm>
            <a:custGeom>
              <a:avLst/>
              <a:gdLst/>
              <a:ahLst/>
              <a:cxnLst/>
              <a:rect r="r" b="b" t="t" l="l"/>
              <a:pathLst>
                <a:path h="455021" w="1093530">
                  <a:moveTo>
                    <a:pt x="93604" y="0"/>
                  </a:moveTo>
                  <a:lnTo>
                    <a:pt x="999927" y="0"/>
                  </a:lnTo>
                  <a:cubicBezTo>
                    <a:pt x="1024752" y="0"/>
                    <a:pt x="1048560" y="9862"/>
                    <a:pt x="1066114" y="27416"/>
                  </a:cubicBezTo>
                  <a:cubicBezTo>
                    <a:pt x="1083669" y="44970"/>
                    <a:pt x="1093530" y="68779"/>
                    <a:pt x="1093530" y="93604"/>
                  </a:cubicBezTo>
                  <a:lnTo>
                    <a:pt x="1093530" y="361418"/>
                  </a:lnTo>
                  <a:cubicBezTo>
                    <a:pt x="1093530" y="386243"/>
                    <a:pt x="1083669" y="410051"/>
                    <a:pt x="1066114" y="427605"/>
                  </a:cubicBezTo>
                  <a:cubicBezTo>
                    <a:pt x="1048560" y="445160"/>
                    <a:pt x="1024752" y="455021"/>
                    <a:pt x="999927" y="455021"/>
                  </a:cubicBezTo>
                  <a:lnTo>
                    <a:pt x="93604" y="455021"/>
                  </a:lnTo>
                  <a:cubicBezTo>
                    <a:pt x="68779" y="455021"/>
                    <a:pt x="44970" y="445160"/>
                    <a:pt x="27416" y="427605"/>
                  </a:cubicBezTo>
                  <a:cubicBezTo>
                    <a:pt x="9862" y="410051"/>
                    <a:pt x="0" y="386243"/>
                    <a:pt x="0" y="361418"/>
                  </a:cubicBezTo>
                  <a:lnTo>
                    <a:pt x="0" y="93604"/>
                  </a:lnTo>
                  <a:cubicBezTo>
                    <a:pt x="0" y="68779"/>
                    <a:pt x="9862" y="44970"/>
                    <a:pt x="27416" y="27416"/>
                  </a:cubicBezTo>
                  <a:cubicBezTo>
                    <a:pt x="44970" y="9862"/>
                    <a:pt x="68779" y="0"/>
                    <a:pt x="93604" y="0"/>
                  </a:cubicBezTo>
                  <a:close/>
                </a:path>
              </a:pathLst>
            </a:custGeom>
            <a:gradFill rotWithShape="true">
              <a:gsLst>
                <a:gs pos="0">
                  <a:srgbClr val="0039E6">
                    <a:alpha val="78000"/>
                  </a:srgbClr>
                </a:gs>
                <a:gs pos="100000">
                  <a:srgbClr val="3CFFE2">
                    <a:alpha val="78000"/>
                  </a:srgbClr>
                </a:gs>
              </a:gsLst>
              <a:path path="circle">
                <a:fillToRect l="0" r="100000" t="0" b="100000"/>
              </a:path>
              <a:tileRect r="0" l="-100000" b="0" t="-100000"/>
            </a:gradFill>
            <a:ln cap="rnd">
              <a:noFill/>
              <a:prstDash val="solid"/>
              <a:round/>
            </a:ln>
          </p:spPr>
        </p:sp>
        <p:sp>
          <p:nvSpPr>
            <p:cNvPr name="TextBox 43" id="43"/>
            <p:cNvSpPr txBox="true"/>
            <p:nvPr/>
          </p:nvSpPr>
          <p:spPr>
            <a:xfrm>
              <a:off x="0" y="-66675"/>
              <a:ext cx="1093530" cy="521696"/>
            </a:xfrm>
            <a:prstGeom prst="rect">
              <a:avLst/>
            </a:prstGeom>
          </p:spPr>
          <p:txBody>
            <a:bodyPr anchor="ctr" rtlCol="false" tIns="50800" lIns="50800" bIns="50800" rIns="50800"/>
            <a:lstStyle/>
            <a:p>
              <a:pPr algn="ctr" marL="0" indent="0" lvl="0">
                <a:lnSpc>
                  <a:spcPts val="3151"/>
                </a:lnSpc>
              </a:pPr>
            </a:p>
          </p:txBody>
        </p:sp>
      </p:grpSp>
      <p:grpSp>
        <p:nvGrpSpPr>
          <p:cNvPr name="Group 44" id="44"/>
          <p:cNvGrpSpPr/>
          <p:nvPr/>
        </p:nvGrpSpPr>
        <p:grpSpPr>
          <a:xfrm rot="0">
            <a:off x="10054634" y="7935127"/>
            <a:ext cx="4218183" cy="1983019"/>
            <a:chOff x="0" y="0"/>
            <a:chExt cx="1093530" cy="514082"/>
          </a:xfrm>
        </p:grpSpPr>
        <p:sp>
          <p:nvSpPr>
            <p:cNvPr name="Freeform 45" id="45"/>
            <p:cNvSpPr/>
            <p:nvPr/>
          </p:nvSpPr>
          <p:spPr>
            <a:xfrm flipH="false" flipV="false" rot="0">
              <a:off x="0" y="0"/>
              <a:ext cx="1093530" cy="514082"/>
            </a:xfrm>
            <a:custGeom>
              <a:avLst/>
              <a:gdLst/>
              <a:ahLst/>
              <a:cxnLst/>
              <a:rect r="r" b="b" t="t" l="l"/>
              <a:pathLst>
                <a:path h="514082" w="1093530">
                  <a:moveTo>
                    <a:pt x="93604" y="0"/>
                  </a:moveTo>
                  <a:lnTo>
                    <a:pt x="999927" y="0"/>
                  </a:lnTo>
                  <a:cubicBezTo>
                    <a:pt x="1024752" y="0"/>
                    <a:pt x="1048560" y="9862"/>
                    <a:pt x="1066114" y="27416"/>
                  </a:cubicBezTo>
                  <a:cubicBezTo>
                    <a:pt x="1083669" y="44970"/>
                    <a:pt x="1093530" y="68779"/>
                    <a:pt x="1093530" y="93604"/>
                  </a:cubicBezTo>
                  <a:lnTo>
                    <a:pt x="1093530" y="420478"/>
                  </a:lnTo>
                  <a:cubicBezTo>
                    <a:pt x="1093530" y="445303"/>
                    <a:pt x="1083669" y="469112"/>
                    <a:pt x="1066114" y="486666"/>
                  </a:cubicBezTo>
                  <a:cubicBezTo>
                    <a:pt x="1048560" y="504220"/>
                    <a:pt x="1024752" y="514082"/>
                    <a:pt x="999927" y="514082"/>
                  </a:cubicBezTo>
                  <a:lnTo>
                    <a:pt x="93604" y="514082"/>
                  </a:lnTo>
                  <a:cubicBezTo>
                    <a:pt x="68779" y="514082"/>
                    <a:pt x="44970" y="504220"/>
                    <a:pt x="27416" y="486666"/>
                  </a:cubicBezTo>
                  <a:cubicBezTo>
                    <a:pt x="9862" y="469112"/>
                    <a:pt x="0" y="445303"/>
                    <a:pt x="0" y="420478"/>
                  </a:cubicBezTo>
                  <a:lnTo>
                    <a:pt x="0" y="93604"/>
                  </a:lnTo>
                  <a:cubicBezTo>
                    <a:pt x="0" y="68779"/>
                    <a:pt x="9862" y="44970"/>
                    <a:pt x="27416" y="27416"/>
                  </a:cubicBezTo>
                  <a:cubicBezTo>
                    <a:pt x="44970" y="9862"/>
                    <a:pt x="68779" y="0"/>
                    <a:pt x="93604" y="0"/>
                  </a:cubicBezTo>
                  <a:close/>
                </a:path>
              </a:pathLst>
            </a:custGeom>
            <a:solidFill>
              <a:srgbClr val="FFFFFF">
                <a:alpha val="62745"/>
              </a:srgbClr>
            </a:solidFill>
          </p:spPr>
        </p:sp>
        <p:sp>
          <p:nvSpPr>
            <p:cNvPr name="TextBox 46" id="46"/>
            <p:cNvSpPr txBox="true"/>
            <p:nvPr/>
          </p:nvSpPr>
          <p:spPr>
            <a:xfrm>
              <a:off x="0" y="-66675"/>
              <a:ext cx="1093530" cy="580757"/>
            </a:xfrm>
            <a:prstGeom prst="rect">
              <a:avLst/>
            </a:prstGeom>
          </p:spPr>
          <p:txBody>
            <a:bodyPr anchor="ctr" rtlCol="false" tIns="50800" lIns="50800" bIns="50800" rIns="50800"/>
            <a:lstStyle/>
            <a:p>
              <a:pPr algn="ctr" marL="0" indent="0" lvl="0">
                <a:lnSpc>
                  <a:spcPts val="3151"/>
                </a:lnSpc>
              </a:pPr>
            </a:p>
          </p:txBody>
        </p:sp>
      </p:grpSp>
      <p:grpSp>
        <p:nvGrpSpPr>
          <p:cNvPr name="Group 47" id="47"/>
          <p:cNvGrpSpPr/>
          <p:nvPr/>
        </p:nvGrpSpPr>
        <p:grpSpPr>
          <a:xfrm rot="0">
            <a:off x="10054634" y="7935127"/>
            <a:ext cx="4218183" cy="1983019"/>
            <a:chOff x="0" y="0"/>
            <a:chExt cx="1093530" cy="514082"/>
          </a:xfrm>
        </p:grpSpPr>
        <p:sp>
          <p:nvSpPr>
            <p:cNvPr name="Freeform 48" id="48"/>
            <p:cNvSpPr/>
            <p:nvPr/>
          </p:nvSpPr>
          <p:spPr>
            <a:xfrm flipH="false" flipV="false" rot="0">
              <a:off x="0" y="0"/>
              <a:ext cx="1093530" cy="514082"/>
            </a:xfrm>
            <a:custGeom>
              <a:avLst/>
              <a:gdLst/>
              <a:ahLst/>
              <a:cxnLst/>
              <a:rect r="r" b="b" t="t" l="l"/>
              <a:pathLst>
                <a:path h="514082" w="1093530">
                  <a:moveTo>
                    <a:pt x="93604" y="0"/>
                  </a:moveTo>
                  <a:lnTo>
                    <a:pt x="999927" y="0"/>
                  </a:lnTo>
                  <a:cubicBezTo>
                    <a:pt x="1024752" y="0"/>
                    <a:pt x="1048560" y="9862"/>
                    <a:pt x="1066114" y="27416"/>
                  </a:cubicBezTo>
                  <a:cubicBezTo>
                    <a:pt x="1083669" y="44970"/>
                    <a:pt x="1093530" y="68779"/>
                    <a:pt x="1093530" y="93604"/>
                  </a:cubicBezTo>
                  <a:lnTo>
                    <a:pt x="1093530" y="420478"/>
                  </a:lnTo>
                  <a:cubicBezTo>
                    <a:pt x="1093530" y="445303"/>
                    <a:pt x="1083669" y="469112"/>
                    <a:pt x="1066114" y="486666"/>
                  </a:cubicBezTo>
                  <a:cubicBezTo>
                    <a:pt x="1048560" y="504220"/>
                    <a:pt x="1024752" y="514082"/>
                    <a:pt x="999927" y="514082"/>
                  </a:cubicBezTo>
                  <a:lnTo>
                    <a:pt x="93604" y="514082"/>
                  </a:lnTo>
                  <a:cubicBezTo>
                    <a:pt x="68779" y="514082"/>
                    <a:pt x="44970" y="504220"/>
                    <a:pt x="27416" y="486666"/>
                  </a:cubicBezTo>
                  <a:cubicBezTo>
                    <a:pt x="9862" y="469112"/>
                    <a:pt x="0" y="445303"/>
                    <a:pt x="0" y="420478"/>
                  </a:cubicBezTo>
                  <a:lnTo>
                    <a:pt x="0" y="93604"/>
                  </a:lnTo>
                  <a:cubicBezTo>
                    <a:pt x="0" y="68779"/>
                    <a:pt x="9862" y="44970"/>
                    <a:pt x="27416" y="27416"/>
                  </a:cubicBezTo>
                  <a:cubicBezTo>
                    <a:pt x="44970" y="9862"/>
                    <a:pt x="68779" y="0"/>
                    <a:pt x="93604" y="0"/>
                  </a:cubicBezTo>
                  <a:close/>
                </a:path>
              </a:pathLst>
            </a:custGeom>
            <a:ln w="38100" cap="rnd">
              <a:gradFill>
                <a:gsLst>
                  <a:gs pos="0">
                    <a:srgbClr val="0039E6">
                      <a:alpha val="100000"/>
                    </a:srgbClr>
                  </a:gs>
                  <a:gs pos="100000">
                    <a:srgbClr val="3CFFE2">
                      <a:alpha val="100000"/>
                    </a:srgbClr>
                  </a:gs>
                </a:gsLst>
                <a:path path="circle">
                  <a:fillToRect l="0" r="100000" t="0" b="100000"/>
                </a:path>
                <a:tileRect r="0" l="-100000" b="0" t="-100000"/>
              </a:gradFill>
              <a:prstDash val="solid"/>
              <a:round/>
            </a:ln>
          </p:spPr>
        </p:sp>
        <p:sp>
          <p:nvSpPr>
            <p:cNvPr name="TextBox 49" id="49"/>
            <p:cNvSpPr txBox="true"/>
            <p:nvPr/>
          </p:nvSpPr>
          <p:spPr>
            <a:xfrm>
              <a:off x="0" y="-66675"/>
              <a:ext cx="1093530" cy="580757"/>
            </a:xfrm>
            <a:prstGeom prst="rect">
              <a:avLst/>
            </a:prstGeom>
          </p:spPr>
          <p:txBody>
            <a:bodyPr anchor="ctr" rtlCol="false" tIns="50800" lIns="50800" bIns="50800" rIns="50800"/>
            <a:lstStyle/>
            <a:p>
              <a:pPr algn="ctr" marL="0" indent="0" lvl="0">
                <a:lnSpc>
                  <a:spcPts val="3151"/>
                </a:lnSpc>
              </a:pPr>
            </a:p>
          </p:txBody>
        </p:sp>
      </p:grpSp>
      <p:sp>
        <p:nvSpPr>
          <p:cNvPr name="TextBox 50" id="50"/>
          <p:cNvSpPr txBox="true"/>
          <p:nvPr/>
        </p:nvSpPr>
        <p:spPr>
          <a:xfrm rot="0">
            <a:off x="10435320" y="8288894"/>
            <a:ext cx="3456811" cy="614010"/>
          </a:xfrm>
          <a:prstGeom prst="rect">
            <a:avLst/>
          </a:prstGeom>
        </p:spPr>
        <p:txBody>
          <a:bodyPr anchor="t" rtlCol="false" tIns="0" lIns="0" bIns="0" rIns="0">
            <a:spAutoFit/>
          </a:bodyPr>
          <a:lstStyle/>
          <a:p>
            <a:pPr algn="ctr" marL="0" indent="0" lvl="0">
              <a:lnSpc>
                <a:spcPts val="2378"/>
              </a:lnSpc>
              <a:spcBef>
                <a:spcPct val="0"/>
              </a:spcBef>
            </a:pPr>
            <a:r>
              <a:rPr lang="en-US" sz="1698">
                <a:solidFill>
                  <a:srgbClr val="3562AF"/>
                </a:solidFill>
                <a:latin typeface="Poppins"/>
                <a:ea typeface="Poppins"/>
                <a:cs typeface="Poppins"/>
                <a:sym typeface="Poppins"/>
              </a:rPr>
              <a:t>SSL/TLS encryption implemented via Certbot. </a:t>
            </a:r>
          </a:p>
        </p:txBody>
      </p:sp>
      <p:sp>
        <p:nvSpPr>
          <p:cNvPr name="TextBox 51" id="51"/>
          <p:cNvSpPr txBox="true"/>
          <p:nvPr/>
        </p:nvSpPr>
        <p:spPr>
          <a:xfrm rot="0">
            <a:off x="10173378" y="7415505"/>
            <a:ext cx="3980694" cy="338335"/>
          </a:xfrm>
          <a:prstGeom prst="rect">
            <a:avLst/>
          </a:prstGeom>
        </p:spPr>
        <p:txBody>
          <a:bodyPr anchor="t" rtlCol="false" tIns="0" lIns="0" bIns="0" rIns="0">
            <a:spAutoFit/>
          </a:bodyPr>
          <a:lstStyle/>
          <a:p>
            <a:pPr algn="ctr" marL="0" indent="0" lvl="0">
              <a:lnSpc>
                <a:spcPts val="2558"/>
              </a:lnSpc>
            </a:pPr>
            <a:r>
              <a:rPr lang="en-US" b="true" sz="2131">
                <a:solidFill>
                  <a:srgbClr val="FFFFFF"/>
                </a:solidFill>
                <a:latin typeface="Poppins Bold"/>
                <a:ea typeface="Poppins Bold"/>
                <a:cs typeface="Poppins Bold"/>
                <a:sym typeface="Poppins Bold"/>
              </a:rPr>
              <a:t>ENCRYPTED TRAFFIC</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311239" y="-3720891"/>
            <a:ext cx="9639356" cy="8229600"/>
          </a:xfrm>
          <a:custGeom>
            <a:avLst/>
            <a:gdLst/>
            <a:ahLst/>
            <a:cxnLst/>
            <a:rect r="r" b="b" t="t" l="l"/>
            <a:pathLst>
              <a:path h="8229600" w="9639356">
                <a:moveTo>
                  <a:pt x="0" y="0"/>
                </a:moveTo>
                <a:lnTo>
                  <a:pt x="9639356" y="0"/>
                </a:lnTo>
                <a:lnTo>
                  <a:pt x="9639356"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1052965" y="836497"/>
            <a:ext cx="384406" cy="384406"/>
          </a:xfrm>
          <a:custGeom>
            <a:avLst/>
            <a:gdLst/>
            <a:ahLst/>
            <a:cxnLst/>
            <a:rect r="r" b="b" t="t" l="l"/>
            <a:pathLst>
              <a:path h="384406" w="384406">
                <a:moveTo>
                  <a:pt x="0" y="0"/>
                </a:moveTo>
                <a:lnTo>
                  <a:pt x="384405" y="0"/>
                </a:lnTo>
                <a:lnTo>
                  <a:pt x="384405" y="384406"/>
                </a:lnTo>
                <a:lnTo>
                  <a:pt x="0" y="3844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8926261" y="2482333"/>
            <a:ext cx="9103429" cy="5890596"/>
            <a:chOff x="0" y="0"/>
            <a:chExt cx="1686807" cy="1091490"/>
          </a:xfrm>
        </p:grpSpPr>
        <p:sp>
          <p:nvSpPr>
            <p:cNvPr name="Freeform 6" id="6"/>
            <p:cNvSpPr/>
            <p:nvPr/>
          </p:nvSpPr>
          <p:spPr>
            <a:xfrm flipH="false" flipV="false" rot="0">
              <a:off x="0" y="0"/>
              <a:ext cx="1686808" cy="1091490"/>
            </a:xfrm>
            <a:custGeom>
              <a:avLst/>
              <a:gdLst/>
              <a:ahLst/>
              <a:cxnLst/>
              <a:rect r="r" b="b" t="t" l="l"/>
              <a:pathLst>
                <a:path h="1091490" w="1686808">
                  <a:moveTo>
                    <a:pt x="34018" y="0"/>
                  </a:moveTo>
                  <a:lnTo>
                    <a:pt x="1652790" y="0"/>
                  </a:lnTo>
                  <a:cubicBezTo>
                    <a:pt x="1661812" y="0"/>
                    <a:pt x="1670465" y="3584"/>
                    <a:pt x="1676844" y="9964"/>
                  </a:cubicBezTo>
                  <a:cubicBezTo>
                    <a:pt x="1683224" y="16343"/>
                    <a:pt x="1686808" y="24996"/>
                    <a:pt x="1686808" y="34018"/>
                  </a:cubicBezTo>
                  <a:lnTo>
                    <a:pt x="1686808" y="1057472"/>
                  </a:lnTo>
                  <a:cubicBezTo>
                    <a:pt x="1686808" y="1076260"/>
                    <a:pt x="1671577" y="1091490"/>
                    <a:pt x="1652790" y="1091490"/>
                  </a:cubicBezTo>
                  <a:lnTo>
                    <a:pt x="34018" y="1091490"/>
                  </a:lnTo>
                  <a:cubicBezTo>
                    <a:pt x="15230" y="1091490"/>
                    <a:pt x="0" y="1076260"/>
                    <a:pt x="0" y="1057472"/>
                  </a:cubicBezTo>
                  <a:lnTo>
                    <a:pt x="0" y="34018"/>
                  </a:lnTo>
                  <a:cubicBezTo>
                    <a:pt x="0" y="15230"/>
                    <a:pt x="15230" y="0"/>
                    <a:pt x="34018" y="0"/>
                  </a:cubicBezTo>
                  <a:close/>
                </a:path>
              </a:pathLst>
            </a:custGeom>
            <a:blipFill>
              <a:blip r:embed="rId6"/>
              <a:stretch>
                <a:fillRect l="0" t="-62" r="0" b="-62"/>
              </a:stretch>
            </a:blipFill>
            <a:ln w="209550" cap="rnd">
              <a:gradFill>
                <a:gsLst>
                  <a:gs pos="0">
                    <a:srgbClr val="0039E6">
                      <a:alpha val="100000"/>
                    </a:srgbClr>
                  </a:gs>
                  <a:gs pos="100000">
                    <a:srgbClr val="3CFFE2">
                      <a:alpha val="100000"/>
                    </a:srgbClr>
                  </a:gs>
                </a:gsLst>
                <a:path path="circle">
                  <a:fillToRect l="0" r="100000" t="0" b="100000"/>
                </a:path>
                <a:tileRect r="0" l="-100000" b="0" t="-100000"/>
              </a:gradFill>
              <a:prstDash val="solid"/>
              <a:round/>
            </a:ln>
          </p:spPr>
        </p:sp>
      </p:grpSp>
      <p:sp>
        <p:nvSpPr>
          <p:cNvPr name="TextBox 7" id="7"/>
          <p:cNvSpPr txBox="true"/>
          <p:nvPr/>
        </p:nvSpPr>
        <p:spPr>
          <a:xfrm rot="0">
            <a:off x="1557999" y="828992"/>
            <a:ext cx="2916319" cy="342299"/>
          </a:xfrm>
          <a:prstGeom prst="rect">
            <a:avLst/>
          </a:prstGeom>
        </p:spPr>
        <p:txBody>
          <a:bodyPr anchor="t" rtlCol="false" tIns="0" lIns="0" bIns="0" rIns="0">
            <a:spAutoFit/>
          </a:bodyPr>
          <a:lstStyle/>
          <a:p>
            <a:pPr algn="l" marL="0" indent="0" lvl="0">
              <a:lnSpc>
                <a:spcPts val="2658"/>
              </a:lnSpc>
            </a:pPr>
            <a:r>
              <a:rPr lang="en-US" b="true" sz="1898">
                <a:solidFill>
                  <a:srgbClr val="FFFFFF"/>
                </a:solidFill>
                <a:latin typeface="Poppins Bold"/>
                <a:ea typeface="Poppins Bold"/>
                <a:cs typeface="Poppins Bold"/>
                <a:sym typeface="Poppins Bold"/>
              </a:rPr>
              <a:t>Burger Builder</a:t>
            </a:r>
          </a:p>
        </p:txBody>
      </p:sp>
      <p:sp>
        <p:nvSpPr>
          <p:cNvPr name="TextBox 8" id="8"/>
          <p:cNvSpPr txBox="true"/>
          <p:nvPr/>
        </p:nvSpPr>
        <p:spPr>
          <a:xfrm rot="0">
            <a:off x="9144000" y="965066"/>
            <a:ext cx="1662550" cy="400056"/>
          </a:xfrm>
          <a:prstGeom prst="rect">
            <a:avLst/>
          </a:prstGeom>
        </p:spPr>
        <p:txBody>
          <a:bodyPr anchor="t" rtlCol="false" tIns="0" lIns="0" bIns="0" rIns="0">
            <a:spAutoFit/>
          </a:bodyPr>
          <a:lstStyle/>
          <a:p>
            <a:pPr algn="r" marL="0" indent="0" lvl="0">
              <a:lnSpc>
                <a:spcPts val="3149"/>
              </a:lnSpc>
              <a:spcBef>
                <a:spcPct val="0"/>
              </a:spcBef>
            </a:pPr>
            <a:r>
              <a:rPr lang="en-US" sz="2249">
                <a:solidFill>
                  <a:srgbClr val="FFFFFF"/>
                </a:solidFill>
                <a:latin typeface="Poppins"/>
                <a:ea typeface="Poppins"/>
                <a:cs typeface="Poppins"/>
                <a:sym typeface="Poppins"/>
              </a:rPr>
              <a:t>Home</a:t>
            </a:r>
          </a:p>
        </p:txBody>
      </p:sp>
      <p:sp>
        <p:nvSpPr>
          <p:cNvPr name="TextBox 9" id="9"/>
          <p:cNvSpPr txBox="true"/>
          <p:nvPr/>
        </p:nvSpPr>
        <p:spPr>
          <a:xfrm rot="0">
            <a:off x="11408122" y="967280"/>
            <a:ext cx="1907082" cy="400081"/>
          </a:xfrm>
          <a:prstGeom prst="rect">
            <a:avLst/>
          </a:prstGeom>
        </p:spPr>
        <p:txBody>
          <a:bodyPr anchor="t" rtlCol="false" tIns="0" lIns="0" bIns="0" rIns="0">
            <a:spAutoFit/>
          </a:bodyPr>
          <a:lstStyle/>
          <a:p>
            <a:pPr algn="ctr" marL="0" indent="0" lvl="0">
              <a:lnSpc>
                <a:spcPts val="3149"/>
              </a:lnSpc>
              <a:spcBef>
                <a:spcPct val="0"/>
              </a:spcBef>
            </a:pPr>
            <a:r>
              <a:rPr lang="en-US" b="true" sz="2249">
                <a:solidFill>
                  <a:srgbClr val="FFFFFF"/>
                </a:solidFill>
                <a:latin typeface="Poppins Bold"/>
                <a:ea typeface="Poppins Bold"/>
                <a:cs typeface="Poppins Bold"/>
                <a:sym typeface="Poppins Bold"/>
              </a:rPr>
              <a:t>Security</a:t>
            </a:r>
          </a:p>
        </p:txBody>
      </p:sp>
      <p:sp>
        <p:nvSpPr>
          <p:cNvPr name="TextBox 10" id="10"/>
          <p:cNvSpPr txBox="true"/>
          <p:nvPr/>
        </p:nvSpPr>
        <p:spPr>
          <a:xfrm rot="0">
            <a:off x="13726729" y="943100"/>
            <a:ext cx="1916881" cy="400081"/>
          </a:xfrm>
          <a:prstGeom prst="rect">
            <a:avLst/>
          </a:prstGeom>
        </p:spPr>
        <p:txBody>
          <a:bodyPr anchor="t" rtlCol="false" tIns="0" lIns="0" bIns="0" rIns="0">
            <a:spAutoFit/>
          </a:bodyPr>
          <a:lstStyle/>
          <a:p>
            <a:pPr algn="ctr" marL="0" indent="0" lvl="0">
              <a:lnSpc>
                <a:spcPts val="3149"/>
              </a:lnSpc>
              <a:spcBef>
                <a:spcPct val="0"/>
              </a:spcBef>
            </a:pPr>
            <a:r>
              <a:rPr lang="en-US" sz="2249">
                <a:solidFill>
                  <a:srgbClr val="FFFFFF"/>
                </a:solidFill>
                <a:latin typeface="Poppins"/>
                <a:ea typeface="Poppins"/>
                <a:cs typeface="Poppins"/>
                <a:sym typeface="Poppins"/>
              </a:rPr>
              <a:t>SIEM</a:t>
            </a:r>
          </a:p>
        </p:txBody>
      </p:sp>
      <p:sp>
        <p:nvSpPr>
          <p:cNvPr name="TextBox 11" id="11"/>
          <p:cNvSpPr txBox="true"/>
          <p:nvPr/>
        </p:nvSpPr>
        <p:spPr>
          <a:xfrm rot="0">
            <a:off x="15034325" y="965066"/>
            <a:ext cx="2224975" cy="400056"/>
          </a:xfrm>
          <a:prstGeom prst="rect">
            <a:avLst/>
          </a:prstGeom>
        </p:spPr>
        <p:txBody>
          <a:bodyPr anchor="t" rtlCol="false" tIns="0" lIns="0" bIns="0" rIns="0">
            <a:spAutoFit/>
          </a:bodyPr>
          <a:lstStyle/>
          <a:p>
            <a:pPr algn="r" marL="0" indent="0" lvl="0">
              <a:lnSpc>
                <a:spcPts val="3149"/>
              </a:lnSpc>
              <a:spcBef>
                <a:spcPct val="0"/>
              </a:spcBef>
            </a:pPr>
            <a:r>
              <a:rPr lang="en-US" sz="2249">
                <a:solidFill>
                  <a:srgbClr val="FFFFFF"/>
                </a:solidFill>
                <a:latin typeface="Poppins"/>
                <a:ea typeface="Poppins"/>
                <a:cs typeface="Poppins"/>
                <a:sym typeface="Poppins"/>
              </a:rPr>
              <a:t>20 / 25</a:t>
            </a:r>
          </a:p>
        </p:txBody>
      </p:sp>
      <p:sp>
        <p:nvSpPr>
          <p:cNvPr name="TextBox 12" id="12"/>
          <p:cNvSpPr txBox="true"/>
          <p:nvPr/>
        </p:nvSpPr>
        <p:spPr>
          <a:xfrm rot="0">
            <a:off x="1095005" y="3127967"/>
            <a:ext cx="4486180" cy="894935"/>
          </a:xfrm>
          <a:prstGeom prst="rect">
            <a:avLst/>
          </a:prstGeom>
        </p:spPr>
        <p:txBody>
          <a:bodyPr anchor="t" rtlCol="false" tIns="0" lIns="0" bIns="0" rIns="0">
            <a:spAutoFit/>
          </a:bodyPr>
          <a:lstStyle/>
          <a:p>
            <a:pPr algn="l" marL="0" indent="0" lvl="0">
              <a:lnSpc>
                <a:spcPts val="6609"/>
              </a:lnSpc>
            </a:pPr>
            <a:r>
              <a:rPr lang="en-US" b="true" sz="5508">
                <a:solidFill>
                  <a:srgbClr val="FFFFFF"/>
                </a:solidFill>
                <a:latin typeface="Poppins Bold"/>
                <a:ea typeface="Poppins Bold"/>
                <a:cs typeface="Poppins Bold"/>
                <a:sym typeface="Poppins Bold"/>
              </a:rPr>
              <a:t>WAF V2</a:t>
            </a:r>
          </a:p>
        </p:txBody>
      </p:sp>
      <p:sp>
        <p:nvSpPr>
          <p:cNvPr name="TextBox 13" id="13"/>
          <p:cNvSpPr txBox="true"/>
          <p:nvPr/>
        </p:nvSpPr>
        <p:spPr>
          <a:xfrm rot="0">
            <a:off x="1095005" y="4288827"/>
            <a:ext cx="9248551" cy="894935"/>
          </a:xfrm>
          <a:prstGeom prst="rect">
            <a:avLst/>
          </a:prstGeom>
        </p:spPr>
        <p:txBody>
          <a:bodyPr anchor="t" rtlCol="false" tIns="0" lIns="0" bIns="0" rIns="0">
            <a:spAutoFit/>
          </a:bodyPr>
          <a:lstStyle/>
          <a:p>
            <a:pPr algn="l" marL="0" indent="0" lvl="0">
              <a:lnSpc>
                <a:spcPts val="6609"/>
              </a:lnSpc>
            </a:pPr>
            <a:r>
              <a:rPr lang="en-US" b="true" sz="5508">
                <a:solidFill>
                  <a:srgbClr val="65FFE8"/>
                </a:solidFill>
                <a:latin typeface="Poppins Bold"/>
                <a:ea typeface="Poppins Bold"/>
                <a:cs typeface="Poppins Bold"/>
                <a:sym typeface="Poppins Bold"/>
              </a:rPr>
              <a:t>SECURE APPGW</a:t>
            </a:r>
          </a:p>
        </p:txBody>
      </p:sp>
      <p:sp>
        <p:nvSpPr>
          <p:cNvPr name="TextBox 14" id="14"/>
          <p:cNvSpPr txBox="true"/>
          <p:nvPr/>
        </p:nvSpPr>
        <p:spPr>
          <a:xfrm rot="0">
            <a:off x="1095005" y="5687812"/>
            <a:ext cx="7486920" cy="1571730"/>
          </a:xfrm>
          <a:prstGeom prst="rect">
            <a:avLst/>
          </a:prstGeom>
        </p:spPr>
        <p:txBody>
          <a:bodyPr anchor="t" rtlCol="false" tIns="0" lIns="0" bIns="0" rIns="0">
            <a:spAutoFit/>
          </a:bodyPr>
          <a:lstStyle/>
          <a:p>
            <a:pPr algn="just" marL="0" indent="0" lvl="0">
              <a:lnSpc>
                <a:spcPts val="3149"/>
              </a:lnSpc>
              <a:spcBef>
                <a:spcPct val="0"/>
              </a:spcBef>
            </a:pPr>
            <a:r>
              <a:rPr lang="en-US" sz="2249">
                <a:solidFill>
                  <a:srgbClr val="FFFFFF"/>
                </a:solidFill>
                <a:latin typeface="Poppins"/>
                <a:ea typeface="Poppins"/>
                <a:cs typeface="Poppins"/>
                <a:sym typeface="Poppins"/>
              </a:rPr>
              <a:t>Pow</a:t>
            </a:r>
            <a:r>
              <a:rPr lang="en-US" sz="2249">
                <a:solidFill>
                  <a:srgbClr val="FFFFFF"/>
                </a:solidFill>
                <a:latin typeface="Poppins"/>
                <a:ea typeface="Poppins"/>
                <a:cs typeface="Poppins"/>
                <a:sym typeface="Poppins"/>
              </a:rPr>
              <a:t>erful Web Application Firewall (WAF) that blocks web attacks, monitors traffic, and instantly alerts on threats. PCI-DSS &amp; GDPR compliant for secure and resilient applications.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311239" y="-3720891"/>
            <a:ext cx="9639356" cy="8229600"/>
          </a:xfrm>
          <a:custGeom>
            <a:avLst/>
            <a:gdLst/>
            <a:ahLst/>
            <a:cxnLst/>
            <a:rect r="r" b="b" t="t" l="l"/>
            <a:pathLst>
              <a:path h="8229600" w="9639356">
                <a:moveTo>
                  <a:pt x="0" y="0"/>
                </a:moveTo>
                <a:lnTo>
                  <a:pt x="9639356" y="0"/>
                </a:lnTo>
                <a:lnTo>
                  <a:pt x="9639356"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1052965" y="836497"/>
            <a:ext cx="384406" cy="384406"/>
          </a:xfrm>
          <a:custGeom>
            <a:avLst/>
            <a:gdLst/>
            <a:ahLst/>
            <a:cxnLst/>
            <a:rect r="r" b="b" t="t" l="l"/>
            <a:pathLst>
              <a:path h="384406" w="384406">
                <a:moveTo>
                  <a:pt x="0" y="0"/>
                </a:moveTo>
                <a:lnTo>
                  <a:pt x="384405" y="0"/>
                </a:lnTo>
                <a:lnTo>
                  <a:pt x="384405" y="384406"/>
                </a:lnTo>
                <a:lnTo>
                  <a:pt x="0" y="3844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8926261" y="2482333"/>
            <a:ext cx="9103429" cy="5890596"/>
            <a:chOff x="0" y="0"/>
            <a:chExt cx="1686807" cy="1091490"/>
          </a:xfrm>
        </p:grpSpPr>
        <p:sp>
          <p:nvSpPr>
            <p:cNvPr name="Freeform 6" id="6"/>
            <p:cNvSpPr/>
            <p:nvPr/>
          </p:nvSpPr>
          <p:spPr>
            <a:xfrm flipH="false" flipV="false" rot="0">
              <a:off x="0" y="0"/>
              <a:ext cx="1686808" cy="1091490"/>
            </a:xfrm>
            <a:custGeom>
              <a:avLst/>
              <a:gdLst/>
              <a:ahLst/>
              <a:cxnLst/>
              <a:rect r="r" b="b" t="t" l="l"/>
              <a:pathLst>
                <a:path h="1091490" w="1686808">
                  <a:moveTo>
                    <a:pt x="34018" y="0"/>
                  </a:moveTo>
                  <a:lnTo>
                    <a:pt x="1652790" y="0"/>
                  </a:lnTo>
                  <a:cubicBezTo>
                    <a:pt x="1661812" y="0"/>
                    <a:pt x="1670465" y="3584"/>
                    <a:pt x="1676844" y="9964"/>
                  </a:cubicBezTo>
                  <a:cubicBezTo>
                    <a:pt x="1683224" y="16343"/>
                    <a:pt x="1686808" y="24996"/>
                    <a:pt x="1686808" y="34018"/>
                  </a:cubicBezTo>
                  <a:lnTo>
                    <a:pt x="1686808" y="1057472"/>
                  </a:lnTo>
                  <a:cubicBezTo>
                    <a:pt x="1686808" y="1076260"/>
                    <a:pt x="1671577" y="1091490"/>
                    <a:pt x="1652790" y="1091490"/>
                  </a:cubicBezTo>
                  <a:lnTo>
                    <a:pt x="34018" y="1091490"/>
                  </a:lnTo>
                  <a:cubicBezTo>
                    <a:pt x="15230" y="1091490"/>
                    <a:pt x="0" y="1076260"/>
                    <a:pt x="0" y="1057472"/>
                  </a:cubicBezTo>
                  <a:lnTo>
                    <a:pt x="0" y="34018"/>
                  </a:lnTo>
                  <a:cubicBezTo>
                    <a:pt x="0" y="15230"/>
                    <a:pt x="15230" y="0"/>
                    <a:pt x="34018" y="0"/>
                  </a:cubicBezTo>
                  <a:close/>
                </a:path>
              </a:pathLst>
            </a:custGeom>
            <a:blipFill>
              <a:blip r:embed="rId6"/>
              <a:stretch>
                <a:fillRect l="0" t="-2654" r="-46937" b="-2654"/>
              </a:stretch>
            </a:blipFill>
            <a:ln w="209550" cap="rnd">
              <a:gradFill>
                <a:gsLst>
                  <a:gs pos="0">
                    <a:srgbClr val="0039E6">
                      <a:alpha val="100000"/>
                    </a:srgbClr>
                  </a:gs>
                  <a:gs pos="100000">
                    <a:srgbClr val="3CFFE2">
                      <a:alpha val="100000"/>
                    </a:srgbClr>
                  </a:gs>
                </a:gsLst>
                <a:path path="circle">
                  <a:fillToRect l="0" r="100000" t="0" b="100000"/>
                </a:path>
                <a:tileRect r="0" l="-100000" b="0" t="-100000"/>
              </a:gradFill>
              <a:prstDash val="solid"/>
              <a:round/>
            </a:ln>
          </p:spPr>
        </p:sp>
      </p:grpSp>
      <p:sp>
        <p:nvSpPr>
          <p:cNvPr name="TextBox 7" id="7"/>
          <p:cNvSpPr txBox="true"/>
          <p:nvPr/>
        </p:nvSpPr>
        <p:spPr>
          <a:xfrm rot="0">
            <a:off x="1557999" y="828992"/>
            <a:ext cx="2916319" cy="342299"/>
          </a:xfrm>
          <a:prstGeom prst="rect">
            <a:avLst/>
          </a:prstGeom>
        </p:spPr>
        <p:txBody>
          <a:bodyPr anchor="t" rtlCol="false" tIns="0" lIns="0" bIns="0" rIns="0">
            <a:spAutoFit/>
          </a:bodyPr>
          <a:lstStyle/>
          <a:p>
            <a:pPr algn="l" marL="0" indent="0" lvl="0">
              <a:lnSpc>
                <a:spcPts val="2658"/>
              </a:lnSpc>
            </a:pPr>
            <a:r>
              <a:rPr lang="en-US" b="true" sz="1898">
                <a:solidFill>
                  <a:srgbClr val="FFFFFF"/>
                </a:solidFill>
                <a:latin typeface="Poppins Bold"/>
                <a:ea typeface="Poppins Bold"/>
                <a:cs typeface="Poppins Bold"/>
                <a:sym typeface="Poppins Bold"/>
              </a:rPr>
              <a:t>Burger Builder</a:t>
            </a:r>
          </a:p>
        </p:txBody>
      </p:sp>
      <p:sp>
        <p:nvSpPr>
          <p:cNvPr name="TextBox 8" id="8"/>
          <p:cNvSpPr txBox="true"/>
          <p:nvPr/>
        </p:nvSpPr>
        <p:spPr>
          <a:xfrm rot="0">
            <a:off x="9144000" y="965066"/>
            <a:ext cx="1662550" cy="400056"/>
          </a:xfrm>
          <a:prstGeom prst="rect">
            <a:avLst/>
          </a:prstGeom>
        </p:spPr>
        <p:txBody>
          <a:bodyPr anchor="t" rtlCol="false" tIns="0" lIns="0" bIns="0" rIns="0">
            <a:spAutoFit/>
          </a:bodyPr>
          <a:lstStyle/>
          <a:p>
            <a:pPr algn="r" marL="0" indent="0" lvl="0">
              <a:lnSpc>
                <a:spcPts val="3149"/>
              </a:lnSpc>
              <a:spcBef>
                <a:spcPct val="0"/>
              </a:spcBef>
            </a:pPr>
            <a:r>
              <a:rPr lang="en-US" sz="2249">
                <a:solidFill>
                  <a:srgbClr val="FFFFFF"/>
                </a:solidFill>
                <a:latin typeface="Poppins"/>
                <a:ea typeface="Poppins"/>
                <a:cs typeface="Poppins"/>
                <a:sym typeface="Poppins"/>
              </a:rPr>
              <a:t>Home</a:t>
            </a:r>
          </a:p>
        </p:txBody>
      </p:sp>
      <p:sp>
        <p:nvSpPr>
          <p:cNvPr name="TextBox 9" id="9"/>
          <p:cNvSpPr txBox="true"/>
          <p:nvPr/>
        </p:nvSpPr>
        <p:spPr>
          <a:xfrm rot="0">
            <a:off x="11408122" y="967280"/>
            <a:ext cx="1907082" cy="400081"/>
          </a:xfrm>
          <a:prstGeom prst="rect">
            <a:avLst/>
          </a:prstGeom>
        </p:spPr>
        <p:txBody>
          <a:bodyPr anchor="t" rtlCol="false" tIns="0" lIns="0" bIns="0" rIns="0">
            <a:spAutoFit/>
          </a:bodyPr>
          <a:lstStyle/>
          <a:p>
            <a:pPr algn="ctr" marL="0" indent="0" lvl="0">
              <a:lnSpc>
                <a:spcPts val="3149"/>
              </a:lnSpc>
              <a:spcBef>
                <a:spcPct val="0"/>
              </a:spcBef>
            </a:pPr>
            <a:r>
              <a:rPr lang="en-US" sz="2249">
                <a:solidFill>
                  <a:srgbClr val="FFFFFF"/>
                </a:solidFill>
                <a:latin typeface="Poppins"/>
                <a:ea typeface="Poppins"/>
                <a:cs typeface="Poppins"/>
                <a:sym typeface="Poppins"/>
              </a:rPr>
              <a:t>Security</a:t>
            </a:r>
          </a:p>
        </p:txBody>
      </p:sp>
      <p:sp>
        <p:nvSpPr>
          <p:cNvPr name="TextBox 10" id="10"/>
          <p:cNvSpPr txBox="true"/>
          <p:nvPr/>
        </p:nvSpPr>
        <p:spPr>
          <a:xfrm rot="0">
            <a:off x="13726729" y="943100"/>
            <a:ext cx="1916881" cy="400081"/>
          </a:xfrm>
          <a:prstGeom prst="rect">
            <a:avLst/>
          </a:prstGeom>
        </p:spPr>
        <p:txBody>
          <a:bodyPr anchor="t" rtlCol="false" tIns="0" lIns="0" bIns="0" rIns="0">
            <a:spAutoFit/>
          </a:bodyPr>
          <a:lstStyle/>
          <a:p>
            <a:pPr algn="ctr" marL="0" indent="0" lvl="0">
              <a:lnSpc>
                <a:spcPts val="3149"/>
              </a:lnSpc>
              <a:spcBef>
                <a:spcPct val="0"/>
              </a:spcBef>
            </a:pPr>
            <a:r>
              <a:rPr lang="en-US" b="true" sz="2249">
                <a:solidFill>
                  <a:srgbClr val="FFFFFF"/>
                </a:solidFill>
                <a:latin typeface="Poppins Bold"/>
                <a:ea typeface="Poppins Bold"/>
                <a:cs typeface="Poppins Bold"/>
                <a:sym typeface="Poppins Bold"/>
              </a:rPr>
              <a:t>SIEM</a:t>
            </a:r>
          </a:p>
        </p:txBody>
      </p:sp>
      <p:sp>
        <p:nvSpPr>
          <p:cNvPr name="TextBox 11" id="11"/>
          <p:cNvSpPr txBox="true"/>
          <p:nvPr/>
        </p:nvSpPr>
        <p:spPr>
          <a:xfrm rot="0">
            <a:off x="15034325" y="965066"/>
            <a:ext cx="2224975" cy="400056"/>
          </a:xfrm>
          <a:prstGeom prst="rect">
            <a:avLst/>
          </a:prstGeom>
        </p:spPr>
        <p:txBody>
          <a:bodyPr anchor="t" rtlCol="false" tIns="0" lIns="0" bIns="0" rIns="0">
            <a:spAutoFit/>
          </a:bodyPr>
          <a:lstStyle/>
          <a:p>
            <a:pPr algn="r" marL="0" indent="0" lvl="0">
              <a:lnSpc>
                <a:spcPts val="3149"/>
              </a:lnSpc>
              <a:spcBef>
                <a:spcPct val="0"/>
              </a:spcBef>
            </a:pPr>
            <a:r>
              <a:rPr lang="en-US" sz="2249">
                <a:solidFill>
                  <a:srgbClr val="FFFFFF"/>
                </a:solidFill>
                <a:latin typeface="Poppins"/>
                <a:ea typeface="Poppins"/>
                <a:cs typeface="Poppins"/>
                <a:sym typeface="Poppins"/>
              </a:rPr>
              <a:t>20 / 25</a:t>
            </a:r>
          </a:p>
        </p:txBody>
      </p:sp>
      <p:sp>
        <p:nvSpPr>
          <p:cNvPr name="TextBox 12" id="12"/>
          <p:cNvSpPr txBox="true"/>
          <p:nvPr/>
        </p:nvSpPr>
        <p:spPr>
          <a:xfrm rot="0">
            <a:off x="1095005" y="2270717"/>
            <a:ext cx="7134130" cy="1732826"/>
          </a:xfrm>
          <a:prstGeom prst="rect">
            <a:avLst/>
          </a:prstGeom>
        </p:spPr>
        <p:txBody>
          <a:bodyPr anchor="t" rtlCol="false" tIns="0" lIns="0" bIns="0" rIns="0">
            <a:spAutoFit/>
          </a:bodyPr>
          <a:lstStyle/>
          <a:p>
            <a:pPr algn="l" marL="0" indent="0" lvl="0">
              <a:lnSpc>
                <a:spcPts val="6609"/>
              </a:lnSpc>
            </a:pPr>
            <a:r>
              <a:rPr lang="en-US" b="true" sz="5508">
                <a:solidFill>
                  <a:srgbClr val="FFFFFF"/>
                </a:solidFill>
                <a:latin typeface="Poppins Bold"/>
                <a:ea typeface="Poppins Bold"/>
                <a:cs typeface="Poppins Bold"/>
                <a:sym typeface="Poppins Bold"/>
              </a:rPr>
              <a:t>WAZUH SIEM(OUR NEW FEATURE)</a:t>
            </a:r>
          </a:p>
        </p:txBody>
      </p:sp>
      <p:sp>
        <p:nvSpPr>
          <p:cNvPr name="TextBox 13" id="13"/>
          <p:cNvSpPr txBox="true"/>
          <p:nvPr/>
        </p:nvSpPr>
        <p:spPr>
          <a:xfrm rot="0">
            <a:off x="1095005" y="4288827"/>
            <a:ext cx="9248551" cy="894935"/>
          </a:xfrm>
          <a:prstGeom prst="rect">
            <a:avLst/>
          </a:prstGeom>
        </p:spPr>
        <p:txBody>
          <a:bodyPr anchor="t" rtlCol="false" tIns="0" lIns="0" bIns="0" rIns="0">
            <a:spAutoFit/>
          </a:bodyPr>
          <a:lstStyle/>
          <a:p>
            <a:pPr algn="l" marL="0" indent="0" lvl="0">
              <a:lnSpc>
                <a:spcPts val="6609"/>
              </a:lnSpc>
            </a:pPr>
            <a:r>
              <a:rPr lang="en-US" b="true" sz="5508">
                <a:solidFill>
                  <a:srgbClr val="65FFE8"/>
                </a:solidFill>
                <a:latin typeface="Poppins Bold"/>
                <a:ea typeface="Poppins Bold"/>
                <a:cs typeface="Poppins Bold"/>
                <a:sym typeface="Poppins Bold"/>
              </a:rPr>
              <a:t>THREAT DETECTION</a:t>
            </a:r>
          </a:p>
        </p:txBody>
      </p:sp>
      <p:sp>
        <p:nvSpPr>
          <p:cNvPr name="TextBox 14" id="14"/>
          <p:cNvSpPr txBox="true"/>
          <p:nvPr/>
        </p:nvSpPr>
        <p:spPr>
          <a:xfrm rot="0">
            <a:off x="1095005" y="5687812"/>
            <a:ext cx="7486920" cy="2352830"/>
          </a:xfrm>
          <a:prstGeom prst="rect">
            <a:avLst/>
          </a:prstGeom>
        </p:spPr>
        <p:txBody>
          <a:bodyPr anchor="t" rtlCol="false" tIns="0" lIns="0" bIns="0" rIns="0">
            <a:spAutoFit/>
          </a:bodyPr>
          <a:lstStyle/>
          <a:p>
            <a:pPr algn="just" marL="0" indent="0" lvl="0">
              <a:lnSpc>
                <a:spcPts val="3149"/>
              </a:lnSpc>
              <a:spcBef>
                <a:spcPct val="0"/>
              </a:spcBef>
            </a:pPr>
            <a:r>
              <a:rPr lang="en-US" sz="2249">
                <a:solidFill>
                  <a:srgbClr val="FFFFFF"/>
                </a:solidFill>
                <a:latin typeface="Poppins"/>
                <a:ea typeface="Poppins"/>
                <a:cs typeface="Poppins"/>
                <a:sym typeface="Poppins"/>
              </a:rPr>
              <a:t>Enterprise-grade security monitoring with real-time intrusion detection, log analysis &amp; correlation, file integrity monitoring, and vulnerability scanning. Compliance-ready for PCI-DSS &amp; GDPR with instant alerting on failed logins, suspicious API calls, and malware detection.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311239" y="-3720891"/>
            <a:ext cx="9639356" cy="8229600"/>
          </a:xfrm>
          <a:custGeom>
            <a:avLst/>
            <a:gdLst/>
            <a:ahLst/>
            <a:cxnLst/>
            <a:rect r="r" b="b" t="t" l="l"/>
            <a:pathLst>
              <a:path h="8229600" w="9639356">
                <a:moveTo>
                  <a:pt x="0" y="0"/>
                </a:moveTo>
                <a:lnTo>
                  <a:pt x="9639356" y="0"/>
                </a:lnTo>
                <a:lnTo>
                  <a:pt x="9639356"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1052965" y="836497"/>
            <a:ext cx="384406" cy="384406"/>
          </a:xfrm>
          <a:custGeom>
            <a:avLst/>
            <a:gdLst/>
            <a:ahLst/>
            <a:cxnLst/>
            <a:rect r="r" b="b" t="t" l="l"/>
            <a:pathLst>
              <a:path h="384406" w="384406">
                <a:moveTo>
                  <a:pt x="0" y="0"/>
                </a:moveTo>
                <a:lnTo>
                  <a:pt x="384405" y="0"/>
                </a:lnTo>
                <a:lnTo>
                  <a:pt x="384405" y="384406"/>
                </a:lnTo>
                <a:lnTo>
                  <a:pt x="0" y="3844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0901183" y="1667679"/>
            <a:ext cx="6358117" cy="8293779"/>
            <a:chOff x="0" y="0"/>
            <a:chExt cx="1320861" cy="1722983"/>
          </a:xfrm>
        </p:grpSpPr>
        <p:sp>
          <p:nvSpPr>
            <p:cNvPr name="Freeform 6" id="6"/>
            <p:cNvSpPr/>
            <p:nvPr/>
          </p:nvSpPr>
          <p:spPr>
            <a:xfrm flipH="false" flipV="false" rot="0">
              <a:off x="0" y="0"/>
              <a:ext cx="1320861" cy="1722983"/>
            </a:xfrm>
            <a:custGeom>
              <a:avLst/>
              <a:gdLst/>
              <a:ahLst/>
              <a:cxnLst/>
              <a:rect r="r" b="b" t="t" l="l"/>
              <a:pathLst>
                <a:path h="1722983" w="1320861">
                  <a:moveTo>
                    <a:pt x="48706" y="0"/>
                  </a:moveTo>
                  <a:lnTo>
                    <a:pt x="1272155" y="0"/>
                  </a:lnTo>
                  <a:cubicBezTo>
                    <a:pt x="1299055" y="0"/>
                    <a:pt x="1320861" y="21806"/>
                    <a:pt x="1320861" y="48706"/>
                  </a:cubicBezTo>
                  <a:lnTo>
                    <a:pt x="1320861" y="1674277"/>
                  </a:lnTo>
                  <a:cubicBezTo>
                    <a:pt x="1320861" y="1701177"/>
                    <a:pt x="1299055" y="1722983"/>
                    <a:pt x="1272155" y="1722983"/>
                  </a:cubicBezTo>
                  <a:lnTo>
                    <a:pt x="48706" y="1722983"/>
                  </a:lnTo>
                  <a:cubicBezTo>
                    <a:pt x="21806" y="1722983"/>
                    <a:pt x="0" y="1701177"/>
                    <a:pt x="0" y="1674277"/>
                  </a:cubicBezTo>
                  <a:lnTo>
                    <a:pt x="0" y="48706"/>
                  </a:lnTo>
                  <a:cubicBezTo>
                    <a:pt x="0" y="21806"/>
                    <a:pt x="21806" y="0"/>
                    <a:pt x="48706" y="0"/>
                  </a:cubicBezTo>
                  <a:close/>
                </a:path>
              </a:pathLst>
            </a:custGeom>
            <a:blipFill>
              <a:blip r:embed="rId6"/>
              <a:stretch>
                <a:fillRect l="0" t="-26914" r="-10496" b="-50950"/>
              </a:stretch>
            </a:blipFill>
            <a:ln w="209550" cap="rnd">
              <a:gradFill>
                <a:gsLst>
                  <a:gs pos="0">
                    <a:srgbClr val="0039E6">
                      <a:alpha val="100000"/>
                    </a:srgbClr>
                  </a:gs>
                  <a:gs pos="100000">
                    <a:srgbClr val="3CFFE2">
                      <a:alpha val="100000"/>
                    </a:srgbClr>
                  </a:gs>
                </a:gsLst>
                <a:path path="circle">
                  <a:fillToRect l="0" r="100000" t="0" b="100000"/>
                </a:path>
                <a:tileRect r="0" l="-100000" b="0" t="-100000"/>
              </a:gradFill>
              <a:prstDash val="solid"/>
              <a:round/>
            </a:ln>
          </p:spPr>
        </p:sp>
      </p:grpSp>
      <p:sp>
        <p:nvSpPr>
          <p:cNvPr name="TextBox 7" id="7"/>
          <p:cNvSpPr txBox="true"/>
          <p:nvPr/>
        </p:nvSpPr>
        <p:spPr>
          <a:xfrm rot="0">
            <a:off x="1557999" y="828992"/>
            <a:ext cx="2916319" cy="342299"/>
          </a:xfrm>
          <a:prstGeom prst="rect">
            <a:avLst/>
          </a:prstGeom>
        </p:spPr>
        <p:txBody>
          <a:bodyPr anchor="t" rtlCol="false" tIns="0" lIns="0" bIns="0" rIns="0">
            <a:spAutoFit/>
          </a:bodyPr>
          <a:lstStyle/>
          <a:p>
            <a:pPr algn="l" marL="0" indent="0" lvl="0">
              <a:lnSpc>
                <a:spcPts val="2658"/>
              </a:lnSpc>
            </a:pPr>
            <a:r>
              <a:rPr lang="en-US" b="true" sz="1898">
                <a:solidFill>
                  <a:srgbClr val="FFFFFF"/>
                </a:solidFill>
                <a:latin typeface="Poppins Bold"/>
                <a:ea typeface="Poppins Bold"/>
                <a:cs typeface="Poppins Bold"/>
                <a:sym typeface="Poppins Bold"/>
              </a:rPr>
              <a:t>Burger Builder</a:t>
            </a:r>
          </a:p>
        </p:txBody>
      </p:sp>
      <p:sp>
        <p:nvSpPr>
          <p:cNvPr name="TextBox 8" id="8"/>
          <p:cNvSpPr txBox="true"/>
          <p:nvPr/>
        </p:nvSpPr>
        <p:spPr>
          <a:xfrm rot="0">
            <a:off x="9144000" y="965066"/>
            <a:ext cx="1662550" cy="400056"/>
          </a:xfrm>
          <a:prstGeom prst="rect">
            <a:avLst/>
          </a:prstGeom>
        </p:spPr>
        <p:txBody>
          <a:bodyPr anchor="t" rtlCol="false" tIns="0" lIns="0" bIns="0" rIns="0">
            <a:spAutoFit/>
          </a:bodyPr>
          <a:lstStyle/>
          <a:p>
            <a:pPr algn="r" marL="0" indent="0" lvl="0">
              <a:lnSpc>
                <a:spcPts val="3149"/>
              </a:lnSpc>
              <a:spcBef>
                <a:spcPct val="0"/>
              </a:spcBef>
            </a:pPr>
            <a:r>
              <a:rPr lang="en-US" sz="2249">
                <a:solidFill>
                  <a:srgbClr val="FFFFFF"/>
                </a:solidFill>
                <a:latin typeface="Poppins"/>
                <a:ea typeface="Poppins"/>
                <a:cs typeface="Poppins"/>
                <a:sym typeface="Poppins"/>
              </a:rPr>
              <a:t>Home</a:t>
            </a:r>
          </a:p>
        </p:txBody>
      </p:sp>
      <p:sp>
        <p:nvSpPr>
          <p:cNvPr name="TextBox 9" id="9"/>
          <p:cNvSpPr txBox="true"/>
          <p:nvPr/>
        </p:nvSpPr>
        <p:spPr>
          <a:xfrm rot="0">
            <a:off x="11408122" y="967280"/>
            <a:ext cx="1907082" cy="400056"/>
          </a:xfrm>
          <a:prstGeom prst="rect">
            <a:avLst/>
          </a:prstGeom>
        </p:spPr>
        <p:txBody>
          <a:bodyPr anchor="t" rtlCol="false" tIns="0" lIns="0" bIns="0" rIns="0">
            <a:spAutoFit/>
          </a:bodyPr>
          <a:lstStyle/>
          <a:p>
            <a:pPr algn="ctr" marL="0" indent="0" lvl="0">
              <a:lnSpc>
                <a:spcPts val="3149"/>
              </a:lnSpc>
              <a:spcBef>
                <a:spcPct val="0"/>
              </a:spcBef>
            </a:pPr>
            <a:r>
              <a:rPr lang="en-US" b="true" sz="2249">
                <a:solidFill>
                  <a:srgbClr val="FFFFFF"/>
                </a:solidFill>
                <a:latin typeface="Poppins Bold"/>
                <a:ea typeface="Poppins Bold"/>
                <a:cs typeface="Poppins Bold"/>
                <a:sym typeface="Poppins Bold"/>
              </a:rPr>
              <a:t>Security</a:t>
            </a:r>
          </a:p>
        </p:txBody>
      </p:sp>
      <p:sp>
        <p:nvSpPr>
          <p:cNvPr name="TextBox 10" id="10"/>
          <p:cNvSpPr txBox="true"/>
          <p:nvPr/>
        </p:nvSpPr>
        <p:spPr>
          <a:xfrm rot="0">
            <a:off x="13726729" y="943100"/>
            <a:ext cx="1916881" cy="400081"/>
          </a:xfrm>
          <a:prstGeom prst="rect">
            <a:avLst/>
          </a:prstGeom>
        </p:spPr>
        <p:txBody>
          <a:bodyPr anchor="t" rtlCol="false" tIns="0" lIns="0" bIns="0" rIns="0">
            <a:spAutoFit/>
          </a:bodyPr>
          <a:lstStyle/>
          <a:p>
            <a:pPr algn="ctr" marL="0" indent="0" lvl="0">
              <a:lnSpc>
                <a:spcPts val="3149"/>
              </a:lnSpc>
              <a:spcBef>
                <a:spcPct val="0"/>
              </a:spcBef>
            </a:pPr>
            <a:r>
              <a:rPr lang="en-US" b="true" sz="2249">
                <a:solidFill>
                  <a:srgbClr val="FFFFFF"/>
                </a:solidFill>
                <a:latin typeface="Poppins Bold"/>
                <a:ea typeface="Poppins Bold"/>
                <a:cs typeface="Poppins Bold"/>
                <a:sym typeface="Poppins Bold"/>
              </a:rPr>
              <a:t>SIEM</a:t>
            </a:r>
          </a:p>
        </p:txBody>
      </p:sp>
      <p:sp>
        <p:nvSpPr>
          <p:cNvPr name="TextBox 11" id="11"/>
          <p:cNvSpPr txBox="true"/>
          <p:nvPr/>
        </p:nvSpPr>
        <p:spPr>
          <a:xfrm rot="0">
            <a:off x="15034325" y="965066"/>
            <a:ext cx="2224975" cy="400056"/>
          </a:xfrm>
          <a:prstGeom prst="rect">
            <a:avLst/>
          </a:prstGeom>
        </p:spPr>
        <p:txBody>
          <a:bodyPr anchor="t" rtlCol="false" tIns="0" lIns="0" bIns="0" rIns="0">
            <a:spAutoFit/>
          </a:bodyPr>
          <a:lstStyle/>
          <a:p>
            <a:pPr algn="r" marL="0" indent="0" lvl="0">
              <a:lnSpc>
                <a:spcPts val="3149"/>
              </a:lnSpc>
              <a:spcBef>
                <a:spcPct val="0"/>
              </a:spcBef>
            </a:pPr>
            <a:r>
              <a:rPr lang="en-US" sz="2249">
                <a:solidFill>
                  <a:srgbClr val="FFFFFF"/>
                </a:solidFill>
                <a:latin typeface="Poppins"/>
                <a:ea typeface="Poppins"/>
                <a:cs typeface="Poppins"/>
                <a:sym typeface="Poppins"/>
              </a:rPr>
              <a:t>20 / 25</a:t>
            </a:r>
          </a:p>
        </p:txBody>
      </p:sp>
      <p:sp>
        <p:nvSpPr>
          <p:cNvPr name="TextBox 12" id="12"/>
          <p:cNvSpPr txBox="true"/>
          <p:nvPr/>
        </p:nvSpPr>
        <p:spPr>
          <a:xfrm rot="0">
            <a:off x="1095005" y="3127967"/>
            <a:ext cx="4486180" cy="894988"/>
          </a:xfrm>
          <a:prstGeom prst="rect">
            <a:avLst/>
          </a:prstGeom>
        </p:spPr>
        <p:txBody>
          <a:bodyPr anchor="t" rtlCol="false" tIns="0" lIns="0" bIns="0" rIns="0">
            <a:spAutoFit/>
          </a:bodyPr>
          <a:lstStyle/>
          <a:p>
            <a:pPr algn="l" marL="0" indent="0" lvl="0">
              <a:lnSpc>
                <a:spcPts val="6609"/>
              </a:lnSpc>
            </a:pPr>
            <a:r>
              <a:rPr lang="en-US" b="true" sz="5508">
                <a:solidFill>
                  <a:srgbClr val="FFFFFF"/>
                </a:solidFill>
                <a:latin typeface="Poppins Bold"/>
                <a:ea typeface="Poppins Bold"/>
                <a:cs typeface="Poppins Bold"/>
                <a:sym typeface="Poppins Bold"/>
              </a:rPr>
              <a:t>WAZUH SIEM</a:t>
            </a:r>
          </a:p>
        </p:txBody>
      </p:sp>
      <p:sp>
        <p:nvSpPr>
          <p:cNvPr name="TextBox 13" id="13"/>
          <p:cNvSpPr txBox="true"/>
          <p:nvPr/>
        </p:nvSpPr>
        <p:spPr>
          <a:xfrm rot="0">
            <a:off x="1095005" y="4288827"/>
            <a:ext cx="9248551" cy="894935"/>
          </a:xfrm>
          <a:prstGeom prst="rect">
            <a:avLst/>
          </a:prstGeom>
        </p:spPr>
        <p:txBody>
          <a:bodyPr anchor="t" rtlCol="false" tIns="0" lIns="0" bIns="0" rIns="0">
            <a:spAutoFit/>
          </a:bodyPr>
          <a:lstStyle/>
          <a:p>
            <a:pPr algn="l" marL="0" indent="0" lvl="0">
              <a:lnSpc>
                <a:spcPts val="6609"/>
              </a:lnSpc>
            </a:pPr>
            <a:r>
              <a:rPr lang="en-US" b="true" sz="5508">
                <a:solidFill>
                  <a:srgbClr val="65FFE8"/>
                </a:solidFill>
                <a:latin typeface="Poppins Bold"/>
                <a:ea typeface="Poppins Bold"/>
                <a:cs typeface="Poppins Bold"/>
                <a:sym typeface="Poppins Bold"/>
              </a:rPr>
              <a:t>TELEGRAM INTEGRATION</a:t>
            </a:r>
          </a:p>
        </p:txBody>
      </p:sp>
      <p:sp>
        <p:nvSpPr>
          <p:cNvPr name="TextBox 14" id="14"/>
          <p:cNvSpPr txBox="true"/>
          <p:nvPr/>
        </p:nvSpPr>
        <p:spPr>
          <a:xfrm rot="0">
            <a:off x="1095005" y="5687812"/>
            <a:ext cx="7486920" cy="3133929"/>
          </a:xfrm>
          <a:prstGeom prst="rect">
            <a:avLst/>
          </a:prstGeom>
        </p:spPr>
        <p:txBody>
          <a:bodyPr anchor="t" rtlCol="false" tIns="0" lIns="0" bIns="0" rIns="0">
            <a:spAutoFit/>
          </a:bodyPr>
          <a:lstStyle/>
          <a:p>
            <a:pPr algn="just" marL="0" indent="0" lvl="0">
              <a:lnSpc>
                <a:spcPts val="3149"/>
              </a:lnSpc>
              <a:spcBef>
                <a:spcPct val="0"/>
              </a:spcBef>
            </a:pPr>
            <a:r>
              <a:rPr lang="en-US" sz="2249">
                <a:solidFill>
                  <a:srgbClr val="FFFFFF"/>
                </a:solidFill>
                <a:latin typeface="Poppins"/>
                <a:ea typeface="Poppins"/>
                <a:cs typeface="Poppins"/>
                <a:sym typeface="Poppins"/>
              </a:rPr>
              <a:t>SIEM-powered Telegram integration delivering real-time security alerts directly to your device. Monitor threats instantly with advanced log correlation, intrusion detection, file integrity monitoring, and vulnerability insights—no constant dashboard tracking required. Stay compliant and responsive with immediate notifications for suspicious activity, failed authentications, and critical system events.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6302165" y="0"/>
            <a:ext cx="8314921" cy="8325328"/>
          </a:xfrm>
          <a:custGeom>
            <a:avLst/>
            <a:gdLst/>
            <a:ahLst/>
            <a:cxnLst/>
            <a:rect r="r" b="b" t="t" l="l"/>
            <a:pathLst>
              <a:path h="8325328" w="8314921">
                <a:moveTo>
                  <a:pt x="0" y="0"/>
                </a:moveTo>
                <a:lnTo>
                  <a:pt x="8314921" y="0"/>
                </a:lnTo>
                <a:lnTo>
                  <a:pt x="8314921" y="8325328"/>
                </a:lnTo>
                <a:lnTo>
                  <a:pt x="0" y="8325328"/>
                </a:lnTo>
                <a:lnTo>
                  <a:pt x="0" y="0"/>
                </a:lnTo>
                <a:close/>
              </a:path>
            </a:pathLst>
          </a:custGeom>
          <a:blipFill>
            <a:blip r:embed="rId3">
              <a:alphaModFix amt="31000"/>
            </a:blip>
            <a:stretch>
              <a:fillRect l="0" t="0" r="0" b="0"/>
            </a:stretch>
          </a:blipFill>
        </p:spPr>
      </p:sp>
      <p:sp>
        <p:nvSpPr>
          <p:cNvPr name="Freeform 4" id="4"/>
          <p:cNvSpPr/>
          <p:nvPr/>
        </p:nvSpPr>
        <p:spPr>
          <a:xfrm flipH="false" flipV="false" rot="0">
            <a:off x="7076866" y="-1316670"/>
            <a:ext cx="12882226" cy="12920339"/>
          </a:xfrm>
          <a:custGeom>
            <a:avLst/>
            <a:gdLst/>
            <a:ahLst/>
            <a:cxnLst/>
            <a:rect r="r" b="b" t="t" l="l"/>
            <a:pathLst>
              <a:path h="12920339" w="12882226">
                <a:moveTo>
                  <a:pt x="0" y="0"/>
                </a:moveTo>
                <a:lnTo>
                  <a:pt x="12882226" y="0"/>
                </a:lnTo>
                <a:lnTo>
                  <a:pt x="12882226" y="12920340"/>
                </a:lnTo>
                <a:lnTo>
                  <a:pt x="0" y="12920340"/>
                </a:lnTo>
                <a:lnTo>
                  <a:pt x="0" y="0"/>
                </a:lnTo>
                <a:close/>
              </a:path>
            </a:pathLst>
          </a:custGeom>
          <a:blipFill>
            <a:blip r:embed="rId4"/>
            <a:stretch>
              <a:fillRect l="0" t="0" r="0" b="0"/>
            </a:stretch>
          </a:blipFill>
        </p:spPr>
      </p:sp>
      <p:grpSp>
        <p:nvGrpSpPr>
          <p:cNvPr name="Group 5" id="5"/>
          <p:cNvGrpSpPr/>
          <p:nvPr/>
        </p:nvGrpSpPr>
        <p:grpSpPr>
          <a:xfrm rot="0">
            <a:off x="17259300" y="8894927"/>
            <a:ext cx="1318118" cy="131811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199"/>
                </a:lnSpc>
              </a:pPr>
            </a:p>
          </p:txBody>
        </p:sp>
      </p:grpSp>
      <p:sp>
        <p:nvSpPr>
          <p:cNvPr name="Freeform 8" id="8"/>
          <p:cNvSpPr/>
          <p:nvPr/>
        </p:nvSpPr>
        <p:spPr>
          <a:xfrm flipH="false" flipV="false" rot="0">
            <a:off x="6662691" y="1895814"/>
            <a:ext cx="11625309" cy="7658172"/>
          </a:xfrm>
          <a:custGeom>
            <a:avLst/>
            <a:gdLst/>
            <a:ahLst/>
            <a:cxnLst/>
            <a:rect r="r" b="b" t="t" l="l"/>
            <a:pathLst>
              <a:path h="7658172" w="11625309">
                <a:moveTo>
                  <a:pt x="0" y="0"/>
                </a:moveTo>
                <a:lnTo>
                  <a:pt x="11625309" y="0"/>
                </a:lnTo>
                <a:lnTo>
                  <a:pt x="11625309" y="7658172"/>
                </a:lnTo>
                <a:lnTo>
                  <a:pt x="0" y="7658172"/>
                </a:lnTo>
                <a:lnTo>
                  <a:pt x="0" y="0"/>
                </a:lnTo>
                <a:close/>
              </a:path>
            </a:pathLst>
          </a:custGeom>
          <a:blipFill>
            <a:blip r:embed="rId5"/>
            <a:stretch>
              <a:fillRect l="0" t="0" r="0" b="0"/>
            </a:stretch>
          </a:blipFill>
        </p:spPr>
      </p:sp>
      <p:sp>
        <p:nvSpPr>
          <p:cNvPr name="TextBox 9" id="9"/>
          <p:cNvSpPr txBox="true"/>
          <p:nvPr/>
        </p:nvSpPr>
        <p:spPr>
          <a:xfrm rot="0">
            <a:off x="143038" y="1848189"/>
            <a:ext cx="6519654" cy="1339712"/>
          </a:xfrm>
          <a:prstGeom prst="rect">
            <a:avLst/>
          </a:prstGeom>
        </p:spPr>
        <p:txBody>
          <a:bodyPr anchor="t" rtlCol="false" tIns="0" lIns="0" bIns="0" rIns="0">
            <a:spAutoFit/>
          </a:bodyPr>
          <a:lstStyle/>
          <a:p>
            <a:pPr algn="l" marL="0" indent="0" lvl="0">
              <a:lnSpc>
                <a:spcPts val="5124"/>
              </a:lnSpc>
            </a:pPr>
            <a:r>
              <a:rPr lang="en-US" b="true" sz="4270">
                <a:solidFill>
                  <a:srgbClr val="FFFFFF"/>
                </a:solidFill>
                <a:latin typeface="Poppins Bold"/>
                <a:ea typeface="Poppins Bold"/>
                <a:cs typeface="Poppins Bold"/>
                <a:sym typeface="Poppins Bold"/>
              </a:rPr>
              <a:t>NEW FEATURE: USER AUTHENTICATION FLOW</a:t>
            </a:r>
          </a:p>
        </p:txBody>
      </p:sp>
      <p:sp>
        <p:nvSpPr>
          <p:cNvPr name="TextBox 10" id="10"/>
          <p:cNvSpPr txBox="true"/>
          <p:nvPr/>
        </p:nvSpPr>
        <p:spPr>
          <a:xfrm rot="0">
            <a:off x="350125" y="3695717"/>
            <a:ext cx="6105479" cy="5199210"/>
          </a:xfrm>
          <a:prstGeom prst="rect">
            <a:avLst/>
          </a:prstGeom>
        </p:spPr>
        <p:txBody>
          <a:bodyPr anchor="t" rtlCol="false" tIns="0" lIns="0" bIns="0" rIns="0">
            <a:spAutoFit/>
          </a:bodyPr>
          <a:lstStyle/>
          <a:p>
            <a:pPr algn="l">
              <a:lnSpc>
                <a:spcPts val="3404"/>
              </a:lnSpc>
            </a:pPr>
            <a:r>
              <a:rPr lang="en-US" sz="2431">
                <a:solidFill>
                  <a:srgbClr val="FFFFFF"/>
                </a:solidFill>
                <a:latin typeface="Poppins"/>
                <a:ea typeface="Poppins"/>
                <a:cs typeface="Poppins"/>
                <a:sym typeface="Poppins"/>
              </a:rPr>
              <a:t>We have implemented a complete Registration and Login system to make the ordering process secure and personalized.</a:t>
            </a:r>
          </a:p>
          <a:p>
            <a:pPr algn="l">
              <a:lnSpc>
                <a:spcPts val="3404"/>
              </a:lnSpc>
            </a:pPr>
            <a:r>
              <a:rPr lang="en-US" sz="2431">
                <a:solidFill>
                  <a:srgbClr val="FFFFFF"/>
                </a:solidFill>
                <a:latin typeface="Poppins"/>
                <a:ea typeface="Poppins"/>
                <a:cs typeface="Poppins"/>
                <a:sym typeface="Poppins"/>
              </a:rPr>
              <a:t>How it works:</a:t>
            </a:r>
          </a:p>
          <a:p>
            <a:pPr algn="l" marL="524964" indent="-262482" lvl="1">
              <a:lnSpc>
                <a:spcPts val="3404"/>
              </a:lnSpc>
              <a:buFont typeface="Arial"/>
              <a:buChar char="•"/>
            </a:pPr>
            <a:r>
              <a:rPr lang="en-US" sz="2431">
                <a:solidFill>
                  <a:srgbClr val="FFFFFF"/>
                </a:solidFill>
                <a:latin typeface="Poppins"/>
                <a:ea typeface="Poppins"/>
                <a:cs typeface="Poppins"/>
                <a:sym typeface="Poppins"/>
              </a:rPr>
              <a:t>Before placing any order, the user must register an account</a:t>
            </a:r>
          </a:p>
          <a:p>
            <a:pPr algn="l" marL="524964" indent="-262482" lvl="1">
              <a:lnSpc>
                <a:spcPts val="3404"/>
              </a:lnSpc>
              <a:buFont typeface="Arial"/>
              <a:buChar char="•"/>
            </a:pPr>
            <a:r>
              <a:rPr lang="en-US" sz="2431">
                <a:solidFill>
                  <a:srgbClr val="FFFFFF"/>
                </a:solidFill>
                <a:latin typeface="Poppins"/>
                <a:ea typeface="Poppins"/>
                <a:cs typeface="Poppins"/>
                <a:sym typeface="Poppins"/>
              </a:rPr>
              <a:t>After registration, the user needs to log in (authorize)</a:t>
            </a:r>
          </a:p>
          <a:p>
            <a:pPr algn="l" marL="524964" indent="-262482" lvl="1">
              <a:lnSpc>
                <a:spcPts val="3404"/>
              </a:lnSpc>
              <a:buFont typeface="Arial"/>
              <a:buChar char="•"/>
            </a:pPr>
            <a:r>
              <a:rPr lang="en-US" sz="2431">
                <a:solidFill>
                  <a:srgbClr val="FFFFFF"/>
                </a:solidFill>
                <a:latin typeface="Poppins"/>
                <a:ea typeface="Poppins"/>
                <a:cs typeface="Poppins"/>
                <a:sym typeface="Poppins"/>
              </a:rPr>
              <a:t>Only authenticated users can access the cart, build custom burgers, and place orders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052965" y="836497"/>
            <a:ext cx="384406" cy="384406"/>
          </a:xfrm>
          <a:custGeom>
            <a:avLst/>
            <a:gdLst/>
            <a:ahLst/>
            <a:cxnLst/>
            <a:rect r="r" b="b" t="t" l="l"/>
            <a:pathLst>
              <a:path h="384406" w="384406">
                <a:moveTo>
                  <a:pt x="0" y="0"/>
                </a:moveTo>
                <a:lnTo>
                  <a:pt x="384405" y="0"/>
                </a:lnTo>
                <a:lnTo>
                  <a:pt x="384405" y="384406"/>
                </a:lnTo>
                <a:lnTo>
                  <a:pt x="0" y="3844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107811" y="2463590"/>
            <a:ext cx="10180189" cy="6629848"/>
          </a:xfrm>
          <a:custGeom>
            <a:avLst/>
            <a:gdLst/>
            <a:ahLst/>
            <a:cxnLst/>
            <a:rect r="r" b="b" t="t" l="l"/>
            <a:pathLst>
              <a:path h="6629848" w="10180189">
                <a:moveTo>
                  <a:pt x="0" y="0"/>
                </a:moveTo>
                <a:lnTo>
                  <a:pt x="10180189" y="0"/>
                </a:lnTo>
                <a:lnTo>
                  <a:pt x="10180189" y="6629848"/>
                </a:lnTo>
                <a:lnTo>
                  <a:pt x="0" y="6629848"/>
                </a:lnTo>
                <a:lnTo>
                  <a:pt x="0" y="0"/>
                </a:lnTo>
                <a:close/>
              </a:path>
            </a:pathLst>
          </a:custGeom>
          <a:blipFill>
            <a:blip r:embed="rId5"/>
            <a:stretch>
              <a:fillRect l="0" t="0" r="0" b="0"/>
            </a:stretch>
          </a:blipFill>
        </p:spPr>
      </p:sp>
      <p:sp>
        <p:nvSpPr>
          <p:cNvPr name="TextBox 5" id="5"/>
          <p:cNvSpPr txBox="true"/>
          <p:nvPr/>
        </p:nvSpPr>
        <p:spPr>
          <a:xfrm rot="0">
            <a:off x="1557999" y="828992"/>
            <a:ext cx="2916319" cy="342299"/>
          </a:xfrm>
          <a:prstGeom prst="rect">
            <a:avLst/>
          </a:prstGeom>
        </p:spPr>
        <p:txBody>
          <a:bodyPr anchor="t" rtlCol="false" tIns="0" lIns="0" bIns="0" rIns="0">
            <a:spAutoFit/>
          </a:bodyPr>
          <a:lstStyle/>
          <a:p>
            <a:pPr algn="l" marL="0" indent="0" lvl="0">
              <a:lnSpc>
                <a:spcPts val="2658"/>
              </a:lnSpc>
            </a:pPr>
            <a:r>
              <a:rPr lang="en-US" b="true" sz="1898">
                <a:solidFill>
                  <a:srgbClr val="FFFFFF"/>
                </a:solidFill>
                <a:latin typeface="Poppins Bold"/>
                <a:ea typeface="Poppins Bold"/>
                <a:cs typeface="Poppins Bold"/>
                <a:sym typeface="Poppins Bold"/>
              </a:rPr>
              <a:t>Burger Builder</a:t>
            </a:r>
          </a:p>
        </p:txBody>
      </p:sp>
      <p:sp>
        <p:nvSpPr>
          <p:cNvPr name="TextBox 6" id="6"/>
          <p:cNvSpPr txBox="true"/>
          <p:nvPr/>
        </p:nvSpPr>
        <p:spPr>
          <a:xfrm rot="0">
            <a:off x="508439" y="2592707"/>
            <a:ext cx="6048280" cy="1732826"/>
          </a:xfrm>
          <a:prstGeom prst="rect">
            <a:avLst/>
          </a:prstGeom>
        </p:spPr>
        <p:txBody>
          <a:bodyPr anchor="t" rtlCol="false" tIns="0" lIns="0" bIns="0" rIns="0">
            <a:spAutoFit/>
          </a:bodyPr>
          <a:lstStyle/>
          <a:p>
            <a:pPr algn="l">
              <a:lnSpc>
                <a:spcPts val="6609"/>
              </a:lnSpc>
            </a:pPr>
            <a:r>
              <a:rPr lang="en-US" sz="5508" b="true">
                <a:solidFill>
                  <a:srgbClr val="FFFFFF"/>
                </a:solidFill>
                <a:latin typeface="Poppins Bold"/>
                <a:ea typeface="Poppins Bold"/>
                <a:cs typeface="Poppins Bold"/>
                <a:sym typeface="Poppins Bold"/>
              </a:rPr>
              <a:t>NEW FEATURE:</a:t>
            </a:r>
          </a:p>
          <a:p>
            <a:pPr algn="l" marL="0" indent="0" lvl="0">
              <a:lnSpc>
                <a:spcPts val="6609"/>
              </a:lnSpc>
            </a:pPr>
          </a:p>
        </p:txBody>
      </p:sp>
      <p:sp>
        <p:nvSpPr>
          <p:cNvPr name="TextBox 7" id="7"/>
          <p:cNvSpPr txBox="true"/>
          <p:nvPr/>
        </p:nvSpPr>
        <p:spPr>
          <a:xfrm rot="0">
            <a:off x="508439" y="3613721"/>
            <a:ext cx="9248551" cy="1732826"/>
          </a:xfrm>
          <a:prstGeom prst="rect">
            <a:avLst/>
          </a:prstGeom>
        </p:spPr>
        <p:txBody>
          <a:bodyPr anchor="t" rtlCol="false" tIns="0" lIns="0" bIns="0" rIns="0">
            <a:spAutoFit/>
          </a:bodyPr>
          <a:lstStyle/>
          <a:p>
            <a:pPr algn="l">
              <a:lnSpc>
                <a:spcPts val="6609"/>
              </a:lnSpc>
            </a:pPr>
            <a:r>
              <a:rPr lang="en-US" sz="5508" b="true">
                <a:solidFill>
                  <a:srgbClr val="65FFE8"/>
                </a:solidFill>
                <a:latin typeface="Poppins Bold"/>
                <a:ea typeface="Poppins Bold"/>
                <a:cs typeface="Poppins Bold"/>
                <a:sym typeface="Poppins Bold"/>
              </a:rPr>
              <a:t>ESTIMATED CALORIES</a:t>
            </a:r>
          </a:p>
          <a:p>
            <a:pPr algn="l" marL="0" indent="0" lvl="0">
              <a:lnSpc>
                <a:spcPts val="6609"/>
              </a:lnSpc>
            </a:pPr>
          </a:p>
        </p:txBody>
      </p:sp>
      <p:sp>
        <p:nvSpPr>
          <p:cNvPr name="TextBox 8" id="8"/>
          <p:cNvSpPr txBox="true"/>
          <p:nvPr/>
        </p:nvSpPr>
        <p:spPr>
          <a:xfrm rot="0">
            <a:off x="390155" y="5076825"/>
            <a:ext cx="7486920" cy="4333881"/>
          </a:xfrm>
          <a:prstGeom prst="rect">
            <a:avLst/>
          </a:prstGeom>
        </p:spPr>
        <p:txBody>
          <a:bodyPr anchor="t" rtlCol="false" tIns="0" lIns="0" bIns="0" rIns="0">
            <a:spAutoFit/>
          </a:bodyPr>
          <a:lstStyle/>
          <a:p>
            <a:pPr algn="just">
              <a:lnSpc>
                <a:spcPts val="3149"/>
              </a:lnSpc>
            </a:pPr>
            <a:r>
              <a:rPr lang="en-US" sz="2249">
                <a:solidFill>
                  <a:srgbClr val="FFFFFF"/>
                </a:solidFill>
                <a:latin typeface="Poppins"/>
                <a:ea typeface="Poppins"/>
                <a:cs typeface="Poppins"/>
                <a:sym typeface="Poppins"/>
              </a:rPr>
              <a:t>We added a real-time calorie calculator directly into the burger builder.</a:t>
            </a:r>
          </a:p>
          <a:p>
            <a:pPr algn="just">
              <a:lnSpc>
                <a:spcPts val="3149"/>
              </a:lnSpc>
            </a:pPr>
            <a:r>
              <a:rPr lang="en-US" sz="2249">
                <a:solidFill>
                  <a:srgbClr val="FFFFFF"/>
                </a:solidFill>
                <a:latin typeface="Poppins"/>
                <a:ea typeface="Poppins"/>
                <a:cs typeface="Poppins"/>
                <a:sym typeface="Poppins"/>
              </a:rPr>
              <a:t>How it works:</a:t>
            </a:r>
          </a:p>
          <a:p>
            <a:pPr algn="just" marL="485725" indent="-242862" lvl="1">
              <a:lnSpc>
                <a:spcPts val="3149"/>
              </a:lnSpc>
              <a:buFont typeface="Arial"/>
              <a:buChar char="•"/>
            </a:pPr>
            <a:r>
              <a:rPr lang="en-US" sz="2249">
                <a:solidFill>
                  <a:srgbClr val="FFFFFF"/>
                </a:solidFill>
                <a:latin typeface="Poppins"/>
                <a:ea typeface="Poppins"/>
                <a:cs typeface="Poppins"/>
                <a:sym typeface="Poppins"/>
              </a:rPr>
              <a:t>As the customer adds or removes ingredients, the system instantly calculates the total calories of the burger.</a:t>
            </a:r>
          </a:p>
          <a:p>
            <a:pPr algn="just" marL="485725" indent="-242862" lvl="1">
              <a:lnSpc>
                <a:spcPts val="3149"/>
              </a:lnSpc>
              <a:buFont typeface="Arial"/>
              <a:buChar char="•"/>
            </a:pPr>
            <a:r>
              <a:rPr lang="en-US" sz="2249">
                <a:solidFill>
                  <a:srgbClr val="FFFFFF"/>
                </a:solidFill>
                <a:latin typeface="Poppins"/>
                <a:ea typeface="Poppins"/>
                <a:cs typeface="Poppins"/>
                <a:sym typeface="Poppins"/>
              </a:rPr>
              <a:t>A visual bar shows whether the burger is a Light meal or a high-calorie one.</a:t>
            </a:r>
          </a:p>
          <a:p>
            <a:pPr algn="just" marL="485725" indent="-242862" lvl="1">
              <a:lnSpc>
                <a:spcPts val="3149"/>
              </a:lnSpc>
              <a:buFont typeface="Arial"/>
              <a:buChar char="•"/>
            </a:pPr>
            <a:r>
              <a:rPr lang="en-US" sz="2249">
                <a:solidFill>
                  <a:srgbClr val="FFFFFF"/>
                </a:solidFill>
                <a:latin typeface="Poppins"/>
                <a:ea typeface="Poppins"/>
                <a:cs typeface="Poppins"/>
                <a:sym typeface="Poppins"/>
              </a:rPr>
              <a:t>The customer can clearly see the estimated calories before adding the burger to the cart.</a:t>
            </a:r>
          </a:p>
          <a:p>
            <a:pPr algn="just" marL="0" indent="0" lvl="0">
              <a:lnSpc>
                <a:spcPts val="3149"/>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6302165" y="0"/>
            <a:ext cx="8314921" cy="8325328"/>
          </a:xfrm>
          <a:custGeom>
            <a:avLst/>
            <a:gdLst/>
            <a:ahLst/>
            <a:cxnLst/>
            <a:rect r="r" b="b" t="t" l="l"/>
            <a:pathLst>
              <a:path h="8325328" w="8314921">
                <a:moveTo>
                  <a:pt x="0" y="0"/>
                </a:moveTo>
                <a:lnTo>
                  <a:pt x="8314921" y="0"/>
                </a:lnTo>
                <a:lnTo>
                  <a:pt x="8314921" y="8325328"/>
                </a:lnTo>
                <a:lnTo>
                  <a:pt x="0" y="8325328"/>
                </a:lnTo>
                <a:lnTo>
                  <a:pt x="0" y="0"/>
                </a:lnTo>
                <a:close/>
              </a:path>
            </a:pathLst>
          </a:custGeom>
          <a:blipFill>
            <a:blip r:embed="rId3">
              <a:alphaModFix amt="31000"/>
            </a:blip>
            <a:stretch>
              <a:fillRect l="0" t="0" r="0" b="0"/>
            </a:stretch>
          </a:blipFill>
        </p:spPr>
      </p:sp>
      <p:grpSp>
        <p:nvGrpSpPr>
          <p:cNvPr name="Group 4" id="4"/>
          <p:cNvGrpSpPr/>
          <p:nvPr/>
        </p:nvGrpSpPr>
        <p:grpSpPr>
          <a:xfrm rot="0">
            <a:off x="16908384" y="7940182"/>
            <a:ext cx="1318118" cy="1318118"/>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marL="0" indent="0" lvl="0">
                <a:lnSpc>
                  <a:spcPts val="2199"/>
                </a:lnSpc>
              </a:pPr>
            </a:p>
          </p:txBody>
        </p:sp>
      </p:grpSp>
      <p:grpSp>
        <p:nvGrpSpPr>
          <p:cNvPr name="Group 7" id="7"/>
          <p:cNvGrpSpPr/>
          <p:nvPr/>
        </p:nvGrpSpPr>
        <p:grpSpPr>
          <a:xfrm rot="0">
            <a:off x="1602087" y="3374075"/>
            <a:ext cx="4601870" cy="649867"/>
            <a:chOff x="0" y="0"/>
            <a:chExt cx="1212015" cy="171158"/>
          </a:xfrm>
        </p:grpSpPr>
        <p:sp>
          <p:nvSpPr>
            <p:cNvPr name="Freeform 8" id="8"/>
            <p:cNvSpPr/>
            <p:nvPr/>
          </p:nvSpPr>
          <p:spPr>
            <a:xfrm flipH="false" flipV="false" rot="0">
              <a:off x="0" y="0"/>
              <a:ext cx="1212015" cy="171158"/>
            </a:xfrm>
            <a:custGeom>
              <a:avLst/>
              <a:gdLst/>
              <a:ahLst/>
              <a:cxnLst/>
              <a:rect r="r" b="b" t="t" l="l"/>
              <a:pathLst>
                <a:path h="171158" w="1212015">
                  <a:moveTo>
                    <a:pt x="0" y="0"/>
                  </a:moveTo>
                  <a:lnTo>
                    <a:pt x="1212015" y="0"/>
                  </a:lnTo>
                  <a:lnTo>
                    <a:pt x="1212015" y="171158"/>
                  </a:lnTo>
                  <a:lnTo>
                    <a:pt x="0" y="171158"/>
                  </a:lnTo>
                  <a:close/>
                </a:path>
              </a:pathLst>
            </a:custGeom>
            <a:gradFill rotWithShape="true">
              <a:gsLst>
                <a:gs pos="0">
                  <a:srgbClr val="000000">
                    <a:alpha val="100000"/>
                  </a:srgbClr>
                </a:gs>
                <a:gs pos="33333">
                  <a:srgbClr val="50004A">
                    <a:alpha val="100000"/>
                  </a:srgbClr>
                </a:gs>
                <a:gs pos="66667">
                  <a:srgbClr val="31B4CB">
                    <a:alpha val="100000"/>
                  </a:srgbClr>
                </a:gs>
                <a:gs pos="100000">
                  <a:srgbClr val="0F0059">
                    <a:alpha val="100000"/>
                  </a:srgbClr>
                </a:gs>
              </a:gsLst>
              <a:path path="circle">
                <a:fillToRect l="0" r="100000" t="0" b="100000"/>
              </a:path>
              <a:tileRect r="0" l="-100000" b="0" t="-100000"/>
            </a:gradFill>
          </p:spPr>
        </p:sp>
        <p:sp>
          <p:nvSpPr>
            <p:cNvPr name="TextBox 9" id="9"/>
            <p:cNvSpPr txBox="true"/>
            <p:nvPr/>
          </p:nvSpPr>
          <p:spPr>
            <a:xfrm>
              <a:off x="0" y="-38100"/>
              <a:ext cx="1212015" cy="209258"/>
            </a:xfrm>
            <a:prstGeom prst="rect">
              <a:avLst/>
            </a:prstGeom>
          </p:spPr>
          <p:txBody>
            <a:bodyPr anchor="ctr" rtlCol="false" tIns="50800" lIns="50800" bIns="50800" rIns="50800"/>
            <a:lstStyle/>
            <a:p>
              <a:pPr algn="ctr" marL="0" indent="0" lvl="0">
                <a:lnSpc>
                  <a:spcPts val="2199"/>
                </a:lnSpc>
              </a:pPr>
            </a:p>
          </p:txBody>
        </p:sp>
      </p:grpSp>
      <p:grpSp>
        <p:nvGrpSpPr>
          <p:cNvPr name="Group 10" id="10"/>
          <p:cNvGrpSpPr/>
          <p:nvPr/>
        </p:nvGrpSpPr>
        <p:grpSpPr>
          <a:xfrm rot="0">
            <a:off x="1602087" y="5537285"/>
            <a:ext cx="4729246" cy="597978"/>
            <a:chOff x="0" y="0"/>
            <a:chExt cx="1245563" cy="157492"/>
          </a:xfrm>
        </p:grpSpPr>
        <p:sp>
          <p:nvSpPr>
            <p:cNvPr name="Freeform 11" id="11"/>
            <p:cNvSpPr/>
            <p:nvPr/>
          </p:nvSpPr>
          <p:spPr>
            <a:xfrm flipH="false" flipV="false" rot="0">
              <a:off x="0" y="0"/>
              <a:ext cx="1245563" cy="157492"/>
            </a:xfrm>
            <a:custGeom>
              <a:avLst/>
              <a:gdLst/>
              <a:ahLst/>
              <a:cxnLst/>
              <a:rect r="r" b="b" t="t" l="l"/>
              <a:pathLst>
                <a:path h="157492" w="1245563">
                  <a:moveTo>
                    <a:pt x="0" y="0"/>
                  </a:moveTo>
                  <a:lnTo>
                    <a:pt x="1245563" y="0"/>
                  </a:lnTo>
                  <a:lnTo>
                    <a:pt x="1245563" y="157492"/>
                  </a:lnTo>
                  <a:lnTo>
                    <a:pt x="0" y="157492"/>
                  </a:lnTo>
                  <a:close/>
                </a:path>
              </a:pathLst>
            </a:custGeom>
            <a:gradFill rotWithShape="true">
              <a:gsLst>
                <a:gs pos="0">
                  <a:srgbClr val="000000">
                    <a:alpha val="100000"/>
                  </a:srgbClr>
                </a:gs>
                <a:gs pos="33333">
                  <a:srgbClr val="50004A">
                    <a:alpha val="100000"/>
                  </a:srgbClr>
                </a:gs>
                <a:gs pos="66667">
                  <a:srgbClr val="31B4CB">
                    <a:alpha val="100000"/>
                  </a:srgbClr>
                </a:gs>
                <a:gs pos="100000">
                  <a:srgbClr val="0F0059">
                    <a:alpha val="100000"/>
                  </a:srgbClr>
                </a:gs>
              </a:gsLst>
              <a:path path="circle">
                <a:fillToRect l="0" r="100000" t="0" b="100000"/>
              </a:path>
              <a:tileRect r="0" l="-100000" b="0" t="-100000"/>
            </a:gradFill>
          </p:spPr>
        </p:sp>
        <p:sp>
          <p:nvSpPr>
            <p:cNvPr name="TextBox 12" id="12"/>
            <p:cNvSpPr txBox="true"/>
            <p:nvPr/>
          </p:nvSpPr>
          <p:spPr>
            <a:xfrm>
              <a:off x="0" y="-38100"/>
              <a:ext cx="1245563" cy="195592"/>
            </a:xfrm>
            <a:prstGeom prst="rect">
              <a:avLst/>
            </a:prstGeom>
          </p:spPr>
          <p:txBody>
            <a:bodyPr anchor="ctr" rtlCol="false" tIns="50800" lIns="50800" bIns="50800" rIns="50800"/>
            <a:lstStyle/>
            <a:p>
              <a:pPr algn="ctr" marL="0" indent="0" lvl="0">
                <a:lnSpc>
                  <a:spcPts val="2199"/>
                </a:lnSpc>
              </a:pPr>
            </a:p>
          </p:txBody>
        </p:sp>
      </p:grpSp>
      <p:grpSp>
        <p:nvGrpSpPr>
          <p:cNvPr name="Group 13" id="13"/>
          <p:cNvGrpSpPr/>
          <p:nvPr/>
        </p:nvGrpSpPr>
        <p:grpSpPr>
          <a:xfrm rot="0">
            <a:off x="1602087" y="7430393"/>
            <a:ext cx="4729246" cy="532472"/>
            <a:chOff x="0" y="0"/>
            <a:chExt cx="1245563" cy="140240"/>
          </a:xfrm>
        </p:grpSpPr>
        <p:sp>
          <p:nvSpPr>
            <p:cNvPr name="Freeform 14" id="14"/>
            <p:cNvSpPr/>
            <p:nvPr/>
          </p:nvSpPr>
          <p:spPr>
            <a:xfrm flipH="false" flipV="false" rot="0">
              <a:off x="0" y="0"/>
              <a:ext cx="1245563" cy="140240"/>
            </a:xfrm>
            <a:custGeom>
              <a:avLst/>
              <a:gdLst/>
              <a:ahLst/>
              <a:cxnLst/>
              <a:rect r="r" b="b" t="t" l="l"/>
              <a:pathLst>
                <a:path h="140240" w="1245563">
                  <a:moveTo>
                    <a:pt x="0" y="0"/>
                  </a:moveTo>
                  <a:lnTo>
                    <a:pt x="1245563" y="0"/>
                  </a:lnTo>
                  <a:lnTo>
                    <a:pt x="1245563" y="140240"/>
                  </a:lnTo>
                  <a:lnTo>
                    <a:pt x="0" y="140240"/>
                  </a:lnTo>
                  <a:close/>
                </a:path>
              </a:pathLst>
            </a:custGeom>
            <a:gradFill rotWithShape="true">
              <a:gsLst>
                <a:gs pos="0">
                  <a:srgbClr val="000000">
                    <a:alpha val="100000"/>
                  </a:srgbClr>
                </a:gs>
                <a:gs pos="33333">
                  <a:srgbClr val="50004A">
                    <a:alpha val="100000"/>
                  </a:srgbClr>
                </a:gs>
                <a:gs pos="66667">
                  <a:srgbClr val="31B4CB">
                    <a:alpha val="100000"/>
                  </a:srgbClr>
                </a:gs>
                <a:gs pos="100000">
                  <a:srgbClr val="0F0059">
                    <a:alpha val="100000"/>
                  </a:srgbClr>
                </a:gs>
              </a:gsLst>
              <a:path path="circle">
                <a:fillToRect l="0" r="100000" t="0" b="100000"/>
              </a:path>
              <a:tileRect r="0" l="-100000" b="0" t="-100000"/>
            </a:gradFill>
          </p:spPr>
        </p:sp>
        <p:sp>
          <p:nvSpPr>
            <p:cNvPr name="TextBox 15" id="15"/>
            <p:cNvSpPr txBox="true"/>
            <p:nvPr/>
          </p:nvSpPr>
          <p:spPr>
            <a:xfrm>
              <a:off x="0" y="-38100"/>
              <a:ext cx="1245563" cy="178340"/>
            </a:xfrm>
            <a:prstGeom prst="rect">
              <a:avLst/>
            </a:prstGeom>
          </p:spPr>
          <p:txBody>
            <a:bodyPr anchor="ctr" rtlCol="false" tIns="50800" lIns="50800" bIns="50800" rIns="50800"/>
            <a:lstStyle/>
            <a:p>
              <a:pPr algn="ctr" marL="0" indent="0" lvl="0">
                <a:lnSpc>
                  <a:spcPts val="2199"/>
                </a:lnSpc>
              </a:pPr>
            </a:p>
          </p:txBody>
        </p:sp>
      </p:grpSp>
      <p:pic>
        <p:nvPicPr>
          <p:cNvPr name="Picture 16" id="16">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0"/>
          <a:stretch>
            <a:fillRect/>
          </a:stretch>
        </p:blipFill>
        <p:spPr>
          <a:xfrm flipH="false" flipV="false" rot="0">
            <a:off x="8423401" y="1060402"/>
            <a:ext cx="9144042" cy="8788933"/>
          </a:xfrm>
          <a:prstGeom prst="rect">
            <a:avLst/>
          </a:prstGeom>
        </p:spPr>
      </p:pic>
      <p:sp>
        <p:nvSpPr>
          <p:cNvPr name="TextBox 17" id="17"/>
          <p:cNvSpPr txBox="true"/>
          <p:nvPr/>
        </p:nvSpPr>
        <p:spPr>
          <a:xfrm rot="0">
            <a:off x="1743733" y="4177877"/>
            <a:ext cx="4729246" cy="987933"/>
          </a:xfrm>
          <a:prstGeom prst="rect">
            <a:avLst/>
          </a:prstGeom>
        </p:spPr>
        <p:txBody>
          <a:bodyPr anchor="t" rtlCol="false" tIns="0" lIns="0" bIns="0" rIns="0">
            <a:spAutoFit/>
          </a:bodyPr>
          <a:lstStyle/>
          <a:p>
            <a:pPr algn="l" marL="0" indent="0" lvl="0">
              <a:lnSpc>
                <a:spcPts val="2015"/>
              </a:lnSpc>
            </a:pPr>
            <a:r>
              <a:rPr lang="en-US" b="true" sz="1599">
                <a:solidFill>
                  <a:srgbClr val="FFFFFF"/>
                </a:solidFill>
                <a:latin typeface="Montserrat Medium"/>
                <a:ea typeface="Montserrat Medium"/>
                <a:cs typeface="Montserrat Medium"/>
                <a:sym typeface="Montserrat Medium"/>
              </a:rPr>
              <a:t>Talk naturally to the AI to build your burger step-by-step. Switch effortlessly between voice and text input modes with instant low-latency responses.</a:t>
            </a:r>
          </a:p>
        </p:txBody>
      </p:sp>
      <p:sp>
        <p:nvSpPr>
          <p:cNvPr name="TextBox 18" id="18"/>
          <p:cNvSpPr txBox="true"/>
          <p:nvPr/>
        </p:nvSpPr>
        <p:spPr>
          <a:xfrm rot="0">
            <a:off x="2344920" y="3520767"/>
            <a:ext cx="3859036" cy="290792"/>
          </a:xfrm>
          <a:prstGeom prst="rect">
            <a:avLst/>
          </a:prstGeom>
        </p:spPr>
        <p:txBody>
          <a:bodyPr anchor="t" rtlCol="false" tIns="0" lIns="0" bIns="0" rIns="0">
            <a:spAutoFit/>
          </a:bodyPr>
          <a:lstStyle/>
          <a:p>
            <a:pPr algn="l" marL="0" indent="0" lvl="0">
              <a:lnSpc>
                <a:spcPts val="2316"/>
              </a:lnSpc>
            </a:pPr>
            <a:r>
              <a:rPr lang="en-US" b="true" sz="1838">
                <a:solidFill>
                  <a:srgbClr val="FFFFFF"/>
                </a:solidFill>
                <a:latin typeface="Montserrat Bold"/>
                <a:ea typeface="Montserrat Bold"/>
                <a:cs typeface="Montserrat Bold"/>
                <a:sym typeface="Montserrat Bold"/>
              </a:rPr>
              <a:t>🎤 Conversational Ordering</a:t>
            </a:r>
          </a:p>
        </p:txBody>
      </p:sp>
      <p:sp>
        <p:nvSpPr>
          <p:cNvPr name="TextBox 19" id="19"/>
          <p:cNvSpPr txBox="true"/>
          <p:nvPr/>
        </p:nvSpPr>
        <p:spPr>
          <a:xfrm rot="0">
            <a:off x="1538399" y="6251960"/>
            <a:ext cx="4729246" cy="740283"/>
          </a:xfrm>
          <a:prstGeom prst="rect">
            <a:avLst/>
          </a:prstGeom>
        </p:spPr>
        <p:txBody>
          <a:bodyPr anchor="t" rtlCol="false" tIns="0" lIns="0" bIns="0" rIns="0">
            <a:spAutoFit/>
          </a:bodyPr>
          <a:lstStyle/>
          <a:p>
            <a:pPr algn="l" marL="0" indent="0" lvl="0">
              <a:lnSpc>
                <a:spcPts val="2015"/>
              </a:lnSpc>
            </a:pPr>
            <a:r>
              <a:rPr lang="en-US" b="true" sz="1599">
                <a:solidFill>
                  <a:srgbClr val="FFFFFF"/>
                </a:solidFill>
                <a:latin typeface="Montserrat Medium"/>
                <a:ea typeface="Montserrat Medium"/>
                <a:cs typeface="Montserrat Medium"/>
                <a:sym typeface="Montserrat Medium"/>
              </a:rPr>
              <a:t>Powered by Azure OpenAI GPT-4o-mini for intelligent burger recommendations tailored to your taste preferences and dietary needs.</a:t>
            </a:r>
          </a:p>
        </p:txBody>
      </p:sp>
      <p:sp>
        <p:nvSpPr>
          <p:cNvPr name="TextBox 20" id="20"/>
          <p:cNvSpPr txBox="true"/>
          <p:nvPr/>
        </p:nvSpPr>
        <p:spPr>
          <a:xfrm rot="0">
            <a:off x="2014143" y="5613485"/>
            <a:ext cx="4191201" cy="290792"/>
          </a:xfrm>
          <a:prstGeom prst="rect">
            <a:avLst/>
          </a:prstGeom>
        </p:spPr>
        <p:txBody>
          <a:bodyPr anchor="t" rtlCol="false" tIns="0" lIns="0" bIns="0" rIns="0">
            <a:spAutoFit/>
          </a:bodyPr>
          <a:lstStyle/>
          <a:p>
            <a:pPr algn="l" marL="0" indent="0" lvl="0">
              <a:lnSpc>
                <a:spcPts val="2316"/>
              </a:lnSpc>
            </a:pPr>
            <a:r>
              <a:rPr lang="en-US" b="true" sz="1838">
                <a:solidFill>
                  <a:srgbClr val="FFFFFF"/>
                </a:solidFill>
                <a:latin typeface="Montserrat Bold"/>
                <a:ea typeface="Montserrat Bold"/>
                <a:cs typeface="Montserrat Bold"/>
                <a:sym typeface="Montserrat Bold"/>
              </a:rPr>
              <a:t>🤖 Smart Recommendations</a:t>
            </a:r>
          </a:p>
        </p:txBody>
      </p:sp>
      <p:sp>
        <p:nvSpPr>
          <p:cNvPr name="TextBox 21" id="21"/>
          <p:cNvSpPr txBox="true"/>
          <p:nvPr/>
        </p:nvSpPr>
        <p:spPr>
          <a:xfrm rot="0">
            <a:off x="1602087" y="8238244"/>
            <a:ext cx="4729246" cy="987933"/>
          </a:xfrm>
          <a:prstGeom prst="rect">
            <a:avLst/>
          </a:prstGeom>
        </p:spPr>
        <p:txBody>
          <a:bodyPr anchor="t" rtlCol="false" tIns="0" lIns="0" bIns="0" rIns="0">
            <a:spAutoFit/>
          </a:bodyPr>
          <a:lstStyle/>
          <a:p>
            <a:pPr algn="l" marL="0" indent="0" lvl="0">
              <a:lnSpc>
                <a:spcPts val="2015"/>
              </a:lnSpc>
            </a:pPr>
            <a:r>
              <a:rPr lang="en-US" b="true" sz="1599">
                <a:solidFill>
                  <a:srgbClr val="FFFFFF"/>
                </a:solidFill>
                <a:latin typeface="Montserrat Medium"/>
                <a:ea typeface="Montserrat Medium"/>
                <a:cs typeface="Montserrat Medium"/>
                <a:sym typeface="Montserrat Medium"/>
              </a:rPr>
              <a:t>Azure Speech SDK enables real-time voice input and output for seamless hands-free interaction with smooth, natural conversation flow.</a:t>
            </a:r>
          </a:p>
        </p:txBody>
      </p:sp>
      <p:sp>
        <p:nvSpPr>
          <p:cNvPr name="TextBox 22" id="22"/>
          <p:cNvSpPr txBox="true"/>
          <p:nvPr/>
        </p:nvSpPr>
        <p:spPr>
          <a:xfrm rot="0">
            <a:off x="2599650" y="7521139"/>
            <a:ext cx="3020187" cy="290792"/>
          </a:xfrm>
          <a:prstGeom prst="rect">
            <a:avLst/>
          </a:prstGeom>
        </p:spPr>
        <p:txBody>
          <a:bodyPr anchor="t" rtlCol="false" tIns="0" lIns="0" bIns="0" rIns="0">
            <a:spAutoFit/>
          </a:bodyPr>
          <a:lstStyle/>
          <a:p>
            <a:pPr algn="l" marL="0" indent="0" lvl="0">
              <a:lnSpc>
                <a:spcPts val="2316"/>
              </a:lnSpc>
            </a:pPr>
            <a:r>
              <a:rPr lang="en-US" b="true" sz="1838">
                <a:solidFill>
                  <a:srgbClr val="FFFFFF"/>
                </a:solidFill>
                <a:latin typeface="Montserrat Bold"/>
                <a:ea typeface="Montserrat Bold"/>
                <a:cs typeface="Montserrat Bold"/>
                <a:sym typeface="Montserrat Bold"/>
              </a:rPr>
              <a:t>🔊 Real-Time Voice</a:t>
            </a:r>
          </a:p>
        </p:txBody>
      </p:sp>
      <p:sp>
        <p:nvSpPr>
          <p:cNvPr name="TextBox 23" id="23"/>
          <p:cNvSpPr txBox="true"/>
          <p:nvPr/>
        </p:nvSpPr>
        <p:spPr>
          <a:xfrm rot="0">
            <a:off x="356560" y="1237060"/>
            <a:ext cx="4486180" cy="733425"/>
          </a:xfrm>
          <a:prstGeom prst="rect">
            <a:avLst/>
          </a:prstGeom>
        </p:spPr>
        <p:txBody>
          <a:bodyPr anchor="t" rtlCol="false" tIns="0" lIns="0" bIns="0" rIns="0">
            <a:spAutoFit/>
          </a:bodyPr>
          <a:lstStyle/>
          <a:p>
            <a:pPr algn="l" marL="0" indent="0" lvl="0">
              <a:lnSpc>
                <a:spcPts val="5409"/>
              </a:lnSpc>
            </a:pPr>
            <a:r>
              <a:rPr lang="en-US" b="true" sz="4508">
                <a:solidFill>
                  <a:srgbClr val="FFFFFF"/>
                </a:solidFill>
                <a:latin typeface="Poppins Bold"/>
                <a:ea typeface="Poppins Bold"/>
                <a:cs typeface="Poppins Bold"/>
                <a:sym typeface="Poppins Bold"/>
              </a:rPr>
              <a:t>NEW FEATURE</a:t>
            </a:r>
          </a:p>
        </p:txBody>
      </p:sp>
      <p:sp>
        <p:nvSpPr>
          <p:cNvPr name="TextBox 24" id="24"/>
          <p:cNvSpPr txBox="true"/>
          <p:nvPr/>
        </p:nvSpPr>
        <p:spPr>
          <a:xfrm rot="0">
            <a:off x="323850" y="2141935"/>
            <a:ext cx="9248551" cy="762000"/>
          </a:xfrm>
          <a:prstGeom prst="rect">
            <a:avLst/>
          </a:prstGeom>
        </p:spPr>
        <p:txBody>
          <a:bodyPr anchor="t" rtlCol="false" tIns="0" lIns="0" bIns="0" rIns="0">
            <a:spAutoFit/>
          </a:bodyPr>
          <a:lstStyle/>
          <a:p>
            <a:pPr algn="l" marL="0" indent="0" lvl="0">
              <a:lnSpc>
                <a:spcPts val="5649"/>
              </a:lnSpc>
            </a:pPr>
            <a:r>
              <a:rPr lang="en-US" b="true" sz="4708">
                <a:solidFill>
                  <a:srgbClr val="65FFE8"/>
                </a:solidFill>
                <a:latin typeface="Poppins Bold"/>
                <a:ea typeface="Poppins Bold"/>
                <a:cs typeface="Poppins Bold"/>
                <a:sym typeface="Poppins Bold"/>
              </a:rPr>
              <a:t>BURGER AI AGENT</a:t>
            </a:r>
          </a:p>
        </p:txBody>
      </p:sp>
    </p:spTree>
  </p:cSld>
  <p:clrMapOvr>
    <a:masterClrMapping/>
  </p:clrMapOvr>
  <p:timing>
    <p:tnLst>
      <p:par>
        <p:cTn dur="indefinite" restart="never" nodeType="tmRoot">
          <p:childTnLst>
            <p:video>
              <p:cMediaNode vol="0">
                <p:cTn fill="hold" display="false">
                  <p:stCondLst>
                    <p:cond delay="indefinite"/>
                  </p:stCondLst>
                </p:cTn>
                <p:tgtEl>
                  <p:spTgt spid="16"/>
                </p:tgtEl>
              </p:cMediaNode>
            </p:video>
          </p:childTnLst>
        </p:cTn>
      </p:par>
    </p:tnLst>
  </p:timing>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856748" y="724626"/>
            <a:ext cx="599673" cy="383791"/>
          </a:xfrm>
          <a:custGeom>
            <a:avLst/>
            <a:gdLst/>
            <a:ahLst/>
            <a:cxnLst/>
            <a:rect r="r" b="b" t="t" l="l"/>
            <a:pathLst>
              <a:path h="383791" w="599673">
                <a:moveTo>
                  <a:pt x="0" y="0"/>
                </a:moveTo>
                <a:lnTo>
                  <a:pt x="599672" y="0"/>
                </a:lnTo>
                <a:lnTo>
                  <a:pt x="599672" y="383791"/>
                </a:lnTo>
                <a:lnTo>
                  <a:pt x="0" y="383791"/>
                </a:lnTo>
                <a:lnTo>
                  <a:pt x="0" y="0"/>
                </a:lnTo>
                <a:close/>
              </a:path>
            </a:pathLst>
          </a:custGeom>
          <a:blipFill>
            <a:blip r:embed="rId3"/>
            <a:stretch>
              <a:fillRect l="0" t="0" r="0" b="0"/>
            </a:stretch>
          </a:blipFill>
        </p:spPr>
      </p:sp>
      <p:grpSp>
        <p:nvGrpSpPr>
          <p:cNvPr name="Group 4" id="4"/>
          <p:cNvGrpSpPr/>
          <p:nvPr/>
        </p:nvGrpSpPr>
        <p:grpSpPr>
          <a:xfrm rot="0">
            <a:off x="1052965" y="8262380"/>
            <a:ext cx="16206335" cy="995920"/>
            <a:chOff x="0" y="0"/>
            <a:chExt cx="4268335" cy="262300"/>
          </a:xfrm>
        </p:grpSpPr>
        <p:sp>
          <p:nvSpPr>
            <p:cNvPr name="Freeform 5" id="5"/>
            <p:cNvSpPr/>
            <p:nvPr/>
          </p:nvSpPr>
          <p:spPr>
            <a:xfrm flipH="false" flipV="false" rot="0">
              <a:off x="0" y="0"/>
              <a:ext cx="4268335" cy="262300"/>
            </a:xfrm>
            <a:custGeom>
              <a:avLst/>
              <a:gdLst/>
              <a:ahLst/>
              <a:cxnLst/>
              <a:rect r="r" b="b" t="t" l="l"/>
              <a:pathLst>
                <a:path h="262300" w="4268335">
                  <a:moveTo>
                    <a:pt x="16242" y="0"/>
                  </a:moveTo>
                  <a:lnTo>
                    <a:pt x="4252093" y="0"/>
                  </a:lnTo>
                  <a:cubicBezTo>
                    <a:pt x="4261064" y="0"/>
                    <a:pt x="4268335" y="7272"/>
                    <a:pt x="4268335" y="16242"/>
                  </a:cubicBezTo>
                  <a:lnTo>
                    <a:pt x="4268335" y="246058"/>
                  </a:lnTo>
                  <a:cubicBezTo>
                    <a:pt x="4268335" y="255028"/>
                    <a:pt x="4261064" y="262300"/>
                    <a:pt x="4252093" y="262300"/>
                  </a:cubicBezTo>
                  <a:lnTo>
                    <a:pt x="16242" y="262300"/>
                  </a:lnTo>
                  <a:cubicBezTo>
                    <a:pt x="7272" y="262300"/>
                    <a:pt x="0" y="255028"/>
                    <a:pt x="0" y="246058"/>
                  </a:cubicBezTo>
                  <a:lnTo>
                    <a:pt x="0" y="16242"/>
                  </a:lnTo>
                  <a:cubicBezTo>
                    <a:pt x="0" y="7272"/>
                    <a:pt x="7272" y="0"/>
                    <a:pt x="16242" y="0"/>
                  </a:cubicBezTo>
                  <a:close/>
                </a:path>
              </a:pathLst>
            </a:custGeom>
            <a:gradFill rotWithShape="true">
              <a:gsLst>
                <a:gs pos="0">
                  <a:srgbClr val="0039E6">
                    <a:alpha val="100000"/>
                  </a:srgbClr>
                </a:gs>
                <a:gs pos="100000">
                  <a:srgbClr val="3CFFE2">
                    <a:alpha val="67500"/>
                  </a:srgbClr>
                </a:gs>
              </a:gsLst>
              <a:path path="circle">
                <a:fillToRect l="0" r="100000" t="0" b="100000"/>
              </a:path>
              <a:tileRect r="0" l="-100000" b="0" t="-100000"/>
            </a:gradFill>
          </p:spPr>
        </p:sp>
        <p:sp>
          <p:nvSpPr>
            <p:cNvPr name="TextBox 6" id="6"/>
            <p:cNvSpPr txBox="true"/>
            <p:nvPr/>
          </p:nvSpPr>
          <p:spPr>
            <a:xfrm>
              <a:off x="0" y="-66675"/>
              <a:ext cx="4268335" cy="328975"/>
            </a:xfrm>
            <a:prstGeom prst="rect">
              <a:avLst/>
            </a:prstGeom>
          </p:spPr>
          <p:txBody>
            <a:bodyPr anchor="ctr" rtlCol="false" tIns="50800" lIns="50800" bIns="50800" rIns="50800"/>
            <a:lstStyle/>
            <a:p>
              <a:pPr algn="ctr" marL="0" indent="0" lvl="0">
                <a:lnSpc>
                  <a:spcPts val="3151"/>
                </a:lnSpc>
              </a:pPr>
            </a:p>
          </p:txBody>
        </p:sp>
      </p:grpSp>
      <p:sp>
        <p:nvSpPr>
          <p:cNvPr name="Freeform 7" id="7"/>
          <p:cNvSpPr/>
          <p:nvPr/>
        </p:nvSpPr>
        <p:spPr>
          <a:xfrm flipH="false" flipV="false" rot="0">
            <a:off x="220778" y="1200645"/>
            <a:ext cx="4616821" cy="6242007"/>
          </a:xfrm>
          <a:custGeom>
            <a:avLst/>
            <a:gdLst/>
            <a:ahLst/>
            <a:cxnLst/>
            <a:rect r="r" b="b" t="t" l="l"/>
            <a:pathLst>
              <a:path h="6242007" w="4616821">
                <a:moveTo>
                  <a:pt x="0" y="0"/>
                </a:moveTo>
                <a:lnTo>
                  <a:pt x="4616821" y="0"/>
                </a:lnTo>
                <a:lnTo>
                  <a:pt x="4616821" y="6242007"/>
                </a:lnTo>
                <a:lnTo>
                  <a:pt x="0" y="6242007"/>
                </a:lnTo>
                <a:lnTo>
                  <a:pt x="0" y="0"/>
                </a:lnTo>
                <a:close/>
              </a:path>
            </a:pathLst>
          </a:custGeom>
          <a:blipFill>
            <a:blip r:embed="rId4"/>
            <a:stretch>
              <a:fillRect l="0" t="0" r="0" b="0"/>
            </a:stretch>
          </a:blipFill>
        </p:spPr>
      </p:sp>
      <p:sp>
        <p:nvSpPr>
          <p:cNvPr name="TextBox 8" id="8"/>
          <p:cNvSpPr txBox="true"/>
          <p:nvPr/>
        </p:nvSpPr>
        <p:spPr>
          <a:xfrm rot="0">
            <a:off x="5102168" y="2949164"/>
            <a:ext cx="8083664" cy="828675"/>
          </a:xfrm>
          <a:prstGeom prst="rect">
            <a:avLst/>
          </a:prstGeom>
        </p:spPr>
        <p:txBody>
          <a:bodyPr anchor="t" rtlCol="false" tIns="0" lIns="0" bIns="0" rIns="0">
            <a:spAutoFit/>
          </a:bodyPr>
          <a:lstStyle/>
          <a:p>
            <a:pPr algn="ctr" marL="0" indent="0" lvl="0">
              <a:lnSpc>
                <a:spcPts val="6200"/>
              </a:lnSpc>
            </a:pPr>
            <a:r>
              <a:rPr lang="en-US" b="true" sz="5166">
                <a:solidFill>
                  <a:srgbClr val="FFFFFF"/>
                </a:solidFill>
                <a:latin typeface="Poppins Bold"/>
                <a:ea typeface="Poppins Bold"/>
                <a:cs typeface="Poppins Bold"/>
                <a:sym typeface="Poppins Bold"/>
              </a:rPr>
              <a:t>THANK YOU!</a:t>
            </a:r>
          </a:p>
        </p:txBody>
      </p:sp>
      <p:sp>
        <p:nvSpPr>
          <p:cNvPr name="TextBox 9" id="9"/>
          <p:cNvSpPr txBox="true"/>
          <p:nvPr/>
        </p:nvSpPr>
        <p:spPr>
          <a:xfrm rot="0">
            <a:off x="5497006" y="4251771"/>
            <a:ext cx="7293987" cy="828675"/>
          </a:xfrm>
          <a:prstGeom prst="rect">
            <a:avLst/>
          </a:prstGeom>
        </p:spPr>
        <p:txBody>
          <a:bodyPr anchor="t" rtlCol="false" tIns="0" lIns="0" bIns="0" rIns="0">
            <a:spAutoFit/>
          </a:bodyPr>
          <a:lstStyle/>
          <a:p>
            <a:pPr algn="ctr" marL="0" indent="0" lvl="0">
              <a:lnSpc>
                <a:spcPts val="6200"/>
              </a:lnSpc>
            </a:pPr>
            <a:r>
              <a:rPr lang="en-US" b="true" sz="5166">
                <a:solidFill>
                  <a:srgbClr val="65FFE8"/>
                </a:solidFill>
                <a:latin typeface="Poppins Bold"/>
                <a:ea typeface="Poppins Bold"/>
                <a:cs typeface="Poppins Bold"/>
                <a:sym typeface="Poppins Bold"/>
              </a:rPr>
              <a:t>Q&amp;A</a:t>
            </a:r>
          </a:p>
        </p:txBody>
      </p:sp>
      <p:sp>
        <p:nvSpPr>
          <p:cNvPr name="TextBox 10" id="10"/>
          <p:cNvSpPr txBox="true"/>
          <p:nvPr/>
        </p:nvSpPr>
        <p:spPr>
          <a:xfrm rot="0">
            <a:off x="1557999" y="667476"/>
            <a:ext cx="2916319" cy="342299"/>
          </a:xfrm>
          <a:prstGeom prst="rect">
            <a:avLst/>
          </a:prstGeom>
        </p:spPr>
        <p:txBody>
          <a:bodyPr anchor="t" rtlCol="false" tIns="0" lIns="0" bIns="0" rIns="0">
            <a:spAutoFit/>
          </a:bodyPr>
          <a:lstStyle/>
          <a:p>
            <a:pPr algn="l" marL="0" indent="0" lvl="0">
              <a:lnSpc>
                <a:spcPts val="2658"/>
              </a:lnSpc>
            </a:pPr>
            <a:r>
              <a:rPr lang="en-US" b="true" sz="1898">
                <a:solidFill>
                  <a:srgbClr val="FFFFFF"/>
                </a:solidFill>
                <a:latin typeface="Poppins Bold"/>
                <a:ea typeface="Poppins Bold"/>
                <a:cs typeface="Poppins Bold"/>
                <a:sym typeface="Poppins Bold"/>
              </a:rPr>
              <a:t>Hudson Hornets 🐝</a:t>
            </a:r>
          </a:p>
        </p:txBody>
      </p:sp>
      <p:sp>
        <p:nvSpPr>
          <p:cNvPr name="TextBox 11" id="11"/>
          <p:cNvSpPr txBox="true"/>
          <p:nvPr/>
        </p:nvSpPr>
        <p:spPr>
          <a:xfrm rot="0">
            <a:off x="9144000" y="965066"/>
            <a:ext cx="1662550" cy="403351"/>
          </a:xfrm>
          <a:prstGeom prst="rect">
            <a:avLst/>
          </a:prstGeom>
        </p:spPr>
        <p:txBody>
          <a:bodyPr anchor="t" rtlCol="false" tIns="0" lIns="0" bIns="0" rIns="0">
            <a:spAutoFit/>
          </a:bodyPr>
          <a:lstStyle/>
          <a:p>
            <a:pPr algn="r" marL="0" indent="0" lvl="0">
              <a:lnSpc>
                <a:spcPts val="3149"/>
              </a:lnSpc>
              <a:spcBef>
                <a:spcPct val="0"/>
              </a:spcBef>
            </a:pPr>
            <a:r>
              <a:rPr lang="en-US" b="true" sz="2249">
                <a:solidFill>
                  <a:srgbClr val="FFFFFF"/>
                </a:solidFill>
                <a:latin typeface="Poppins Bold"/>
                <a:ea typeface="Poppins Bold"/>
                <a:cs typeface="Poppins Bold"/>
                <a:sym typeface="Poppins Bold"/>
              </a:rPr>
              <a:t>100% IaC</a:t>
            </a:r>
          </a:p>
        </p:txBody>
      </p:sp>
      <p:sp>
        <p:nvSpPr>
          <p:cNvPr name="TextBox 12" id="12"/>
          <p:cNvSpPr txBox="true"/>
          <p:nvPr/>
        </p:nvSpPr>
        <p:spPr>
          <a:xfrm rot="0">
            <a:off x="11408122" y="967280"/>
            <a:ext cx="1907082" cy="400056"/>
          </a:xfrm>
          <a:prstGeom prst="rect">
            <a:avLst/>
          </a:prstGeom>
        </p:spPr>
        <p:txBody>
          <a:bodyPr anchor="t" rtlCol="false" tIns="0" lIns="0" bIns="0" rIns="0">
            <a:spAutoFit/>
          </a:bodyPr>
          <a:lstStyle/>
          <a:p>
            <a:pPr algn="ctr" marL="0" indent="0" lvl="0">
              <a:lnSpc>
                <a:spcPts val="3149"/>
              </a:lnSpc>
              <a:spcBef>
                <a:spcPct val="0"/>
              </a:spcBef>
            </a:pPr>
            <a:r>
              <a:rPr lang="en-US" sz="2249">
                <a:solidFill>
                  <a:srgbClr val="FFFFFF"/>
                </a:solidFill>
                <a:latin typeface="Poppins"/>
                <a:ea typeface="Poppins"/>
                <a:cs typeface="Poppins"/>
                <a:sym typeface="Poppins"/>
              </a:rPr>
              <a:t>3 Pipelines</a:t>
            </a:r>
          </a:p>
        </p:txBody>
      </p:sp>
      <p:sp>
        <p:nvSpPr>
          <p:cNvPr name="TextBox 13" id="13"/>
          <p:cNvSpPr txBox="true"/>
          <p:nvPr/>
        </p:nvSpPr>
        <p:spPr>
          <a:xfrm rot="0">
            <a:off x="13726729" y="943100"/>
            <a:ext cx="1916881" cy="400056"/>
          </a:xfrm>
          <a:prstGeom prst="rect">
            <a:avLst/>
          </a:prstGeom>
        </p:spPr>
        <p:txBody>
          <a:bodyPr anchor="t" rtlCol="false" tIns="0" lIns="0" bIns="0" rIns="0">
            <a:spAutoFit/>
          </a:bodyPr>
          <a:lstStyle/>
          <a:p>
            <a:pPr algn="ctr" marL="0" indent="0" lvl="0">
              <a:lnSpc>
                <a:spcPts val="3149"/>
              </a:lnSpc>
              <a:spcBef>
                <a:spcPct val="0"/>
              </a:spcBef>
            </a:pPr>
            <a:r>
              <a:rPr lang="en-US" sz="2249">
                <a:solidFill>
                  <a:srgbClr val="FFFFFF"/>
                </a:solidFill>
                <a:latin typeface="Poppins"/>
                <a:ea typeface="Poppins"/>
                <a:cs typeface="Poppins"/>
                <a:sym typeface="Poppins"/>
              </a:rPr>
              <a:t>&lt;2s API</a:t>
            </a:r>
          </a:p>
        </p:txBody>
      </p:sp>
      <p:sp>
        <p:nvSpPr>
          <p:cNvPr name="TextBox 14" id="14"/>
          <p:cNvSpPr txBox="true"/>
          <p:nvPr/>
        </p:nvSpPr>
        <p:spPr>
          <a:xfrm rot="0">
            <a:off x="15034325" y="965066"/>
            <a:ext cx="2224975" cy="400056"/>
          </a:xfrm>
          <a:prstGeom prst="rect">
            <a:avLst/>
          </a:prstGeom>
        </p:spPr>
        <p:txBody>
          <a:bodyPr anchor="t" rtlCol="false" tIns="0" lIns="0" bIns="0" rIns="0">
            <a:spAutoFit/>
          </a:bodyPr>
          <a:lstStyle/>
          <a:p>
            <a:pPr algn="r" marL="0" indent="0" lvl="0">
              <a:lnSpc>
                <a:spcPts val="3149"/>
              </a:lnSpc>
              <a:spcBef>
                <a:spcPct val="0"/>
              </a:spcBef>
            </a:pPr>
            <a:r>
              <a:rPr lang="en-US" sz="2249">
                <a:solidFill>
                  <a:srgbClr val="FFFFFF"/>
                </a:solidFill>
                <a:latin typeface="Poppins"/>
                <a:ea typeface="Poppins"/>
                <a:cs typeface="Poppins"/>
                <a:sym typeface="Poppins"/>
              </a:rPr>
              <a:t>99.9% Up</a:t>
            </a:r>
          </a:p>
        </p:txBody>
      </p:sp>
      <p:sp>
        <p:nvSpPr>
          <p:cNvPr name="TextBox 15" id="15"/>
          <p:cNvSpPr txBox="true"/>
          <p:nvPr/>
        </p:nvSpPr>
        <p:spPr>
          <a:xfrm rot="0">
            <a:off x="5300210" y="5871021"/>
            <a:ext cx="7687580" cy="1571631"/>
          </a:xfrm>
          <a:prstGeom prst="rect">
            <a:avLst/>
          </a:prstGeom>
        </p:spPr>
        <p:txBody>
          <a:bodyPr anchor="t" rtlCol="false" tIns="0" lIns="0" bIns="0" rIns="0">
            <a:spAutoFit/>
          </a:bodyPr>
          <a:lstStyle/>
          <a:p>
            <a:pPr algn="ctr" marL="0" indent="0" lvl="0">
              <a:lnSpc>
                <a:spcPts val="3149"/>
              </a:lnSpc>
              <a:spcBef>
                <a:spcPct val="0"/>
              </a:spcBef>
            </a:pPr>
            <a:r>
              <a:rPr lang="en-US" sz="2249">
                <a:solidFill>
                  <a:srgbClr val="FFFFFF"/>
                </a:solidFill>
                <a:latin typeface="Poppins"/>
                <a:ea typeface="Poppins"/>
                <a:cs typeface="Poppins"/>
                <a:sym typeface="Poppins"/>
              </a:rPr>
              <a:t>✅ 100% Infrastructure as Code • ✅ 3 Automated CI/CD Pipelines</a:t>
            </a:r>
          </a:p>
          <a:p>
            <a:pPr algn="ctr" marL="0" indent="0" lvl="0">
              <a:lnSpc>
                <a:spcPts val="3149"/>
              </a:lnSpc>
              <a:spcBef>
                <a:spcPct val="0"/>
              </a:spcBef>
            </a:pPr>
            <a:r>
              <a:rPr lang="en-US" sz="2249">
                <a:solidFill>
                  <a:srgbClr val="FFFFFF"/>
                </a:solidFill>
                <a:latin typeface="Poppins"/>
                <a:ea typeface="Poppins"/>
                <a:cs typeface="Poppins"/>
                <a:sym typeface="Poppins"/>
              </a:rPr>
              <a:t>✅ &lt;2 Second API Response • ✅ 99.9% Uptime • ✅ Zero Security Incidents</a:t>
            </a:r>
          </a:p>
        </p:txBody>
      </p:sp>
      <p:sp>
        <p:nvSpPr>
          <p:cNvPr name="TextBox 16" id="16"/>
          <p:cNvSpPr txBox="true"/>
          <p:nvPr/>
        </p:nvSpPr>
        <p:spPr>
          <a:xfrm rot="0">
            <a:off x="1456420" y="8496430"/>
            <a:ext cx="5520575" cy="451620"/>
          </a:xfrm>
          <a:prstGeom prst="rect">
            <a:avLst/>
          </a:prstGeom>
        </p:spPr>
        <p:txBody>
          <a:bodyPr anchor="t" rtlCol="false" tIns="0" lIns="0" bIns="0" rIns="0">
            <a:spAutoFit/>
          </a:bodyPr>
          <a:lstStyle/>
          <a:p>
            <a:pPr algn="l" marL="0" indent="0" lvl="0">
              <a:lnSpc>
                <a:spcPts val="3458"/>
              </a:lnSpc>
            </a:pPr>
            <a:r>
              <a:rPr lang="en-US" b="true" sz="2470" u="sng">
                <a:solidFill>
                  <a:srgbClr val="FFFFFF"/>
                </a:solidFill>
                <a:latin typeface="Poppins Bold"/>
                <a:ea typeface="Poppins Bold"/>
                <a:cs typeface="Poppins Bold"/>
                <a:sym typeface="Poppins Bold"/>
                <a:hlinkClick r:id="rId5" tooltip="https://burgergroup2.com"/>
              </a:rPr>
              <a:t>https://burgergroup2.com</a:t>
            </a:r>
          </a:p>
        </p:txBody>
      </p:sp>
      <p:sp>
        <p:nvSpPr>
          <p:cNvPr name="TextBox 17" id="17"/>
          <p:cNvSpPr txBox="true"/>
          <p:nvPr/>
        </p:nvSpPr>
        <p:spPr>
          <a:xfrm rot="0">
            <a:off x="12105460" y="8502328"/>
            <a:ext cx="4747340" cy="451595"/>
          </a:xfrm>
          <a:prstGeom prst="rect">
            <a:avLst/>
          </a:prstGeom>
        </p:spPr>
        <p:txBody>
          <a:bodyPr anchor="t" rtlCol="false" tIns="0" lIns="0" bIns="0" rIns="0">
            <a:spAutoFit/>
          </a:bodyPr>
          <a:lstStyle/>
          <a:p>
            <a:pPr algn="r" marL="0" indent="0" lvl="0">
              <a:lnSpc>
                <a:spcPts val="3458"/>
              </a:lnSpc>
            </a:pPr>
            <a:r>
              <a:rPr lang="en-US" b="true" sz="2470">
                <a:solidFill>
                  <a:srgbClr val="FFFFFF"/>
                </a:solidFill>
                <a:latin typeface="Poppins Bold"/>
                <a:ea typeface="Poppins Bold"/>
                <a:cs typeface="Poppins Bold"/>
                <a:sym typeface="Poppins Bold"/>
              </a:rPr>
              <a:t>Questions? Let's Connect!</a:t>
            </a:r>
          </a:p>
        </p:txBody>
      </p:sp>
      <p:sp>
        <p:nvSpPr>
          <p:cNvPr name="TextBox 18" id="18"/>
          <p:cNvSpPr txBox="true"/>
          <p:nvPr/>
        </p:nvSpPr>
        <p:spPr>
          <a:xfrm rot="0">
            <a:off x="8506640" y="8511853"/>
            <a:ext cx="1274721" cy="451595"/>
          </a:xfrm>
          <a:prstGeom prst="rect">
            <a:avLst/>
          </a:prstGeom>
        </p:spPr>
        <p:txBody>
          <a:bodyPr anchor="t" rtlCol="false" tIns="0" lIns="0" bIns="0" rIns="0">
            <a:spAutoFit/>
          </a:bodyPr>
          <a:lstStyle/>
          <a:p>
            <a:pPr algn="ctr" marL="0" indent="0" lvl="0">
              <a:lnSpc>
                <a:spcPts val="3458"/>
              </a:lnSpc>
            </a:pPr>
            <a:r>
              <a:rPr lang="en-US" b="true" sz="2470">
                <a:solidFill>
                  <a:srgbClr val="FFFFFF"/>
                </a:solidFill>
                <a:latin typeface="Poppins Bold"/>
                <a:ea typeface="Poppins Bold"/>
                <a:cs typeface="Poppins Bold"/>
                <a:sym typeface="Poppins Bold"/>
              </a:rPr>
              <a:t>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DAHIpoxc6Gg</dc:identifier>
  <dcterms:modified xsi:type="dcterms:W3CDTF">2011-08-01T06:04:30Z</dcterms:modified>
  <cp:revision>1</cp:revision>
  <dc:title>Burger Builder: Cloud-Native DevOps Fusion</dc:title>
</cp:coreProperties>
</file>